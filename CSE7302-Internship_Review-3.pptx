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9" r:id="rId2"/>
    <p:sldId id="270" r:id="rId3"/>
    <p:sldId id="261" r:id="rId4"/>
    <p:sldId id="278" r:id="rId5"/>
    <p:sldId id="279" r:id="rId6"/>
    <p:sldId id="262" r:id="rId7"/>
    <p:sldId id="263" r:id="rId8"/>
    <p:sldId id="264" r:id="rId9"/>
    <p:sldId id="265" r:id="rId10"/>
    <p:sldId id="271" r:id="rId11"/>
    <p:sldId id="272" r:id="rId12"/>
    <p:sldId id="273" r:id="rId13"/>
    <p:sldId id="274" r:id="rId14"/>
    <p:sldId id="275" r:id="rId15"/>
    <p:sldId id="276" r:id="rId16"/>
    <p:sldId id="277" r:id="rId17"/>
    <p:sldId id="266" r:id="rId18"/>
    <p:sldId id="267" r:id="rId19"/>
    <p:sldId id="268"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p:scale>
          <a:sx n="67" d="100"/>
          <a:sy n="67" d="100"/>
        </p:scale>
        <p:origin x="73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pPr algn="l"/>
          <a:r>
            <a:rPr lang="en-US" dirty="0" smtClean="0">
              <a:latin typeface="Times New Roman" panose="02020603050405020304" pitchFamily="18" charset="0"/>
              <a:cs typeface="Times New Roman" panose="02020603050405020304" pitchFamily="18" charset="0"/>
            </a:rPr>
            <a:t>Gained hands-on experience exploiting real vulnerabilities.</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custT="1"/>
      <dgm:spPr/>
      <dgm:t>
        <a:bodyPr/>
        <a:lstStyle/>
        <a:p>
          <a:pPr algn="l"/>
          <a:r>
            <a:rPr lang="en-US" sz="1600" dirty="0" smtClean="0">
              <a:latin typeface="Times New Roman" panose="02020603050405020304" pitchFamily="18" charset="0"/>
              <a:cs typeface="Times New Roman" panose="02020603050405020304" pitchFamily="18" charset="0"/>
            </a:rPr>
            <a:t>In</a:t>
          </a:r>
          <a:r>
            <a:rPr lang="en-US" sz="1600" baseline="0" dirty="0" smtClean="0">
              <a:latin typeface="Times New Roman" panose="02020603050405020304" pitchFamily="18" charset="0"/>
              <a:cs typeface="Times New Roman" panose="02020603050405020304" pitchFamily="18" charset="0"/>
            </a:rPr>
            <a:t> shadow sprint. </a:t>
          </a:r>
        </a:p>
        <a:p>
          <a:pPr algn="l"/>
          <a:r>
            <a:rPr lang="en-US" sz="1600" baseline="0" dirty="0" smtClean="0">
              <a:latin typeface="Times New Roman" panose="02020603050405020304" pitchFamily="18" charset="0"/>
              <a:cs typeface="Times New Roman" panose="02020603050405020304" pitchFamily="18" charset="0"/>
            </a:rPr>
            <a:t>Working on Tasks assigned. </a:t>
          </a:r>
        </a:p>
        <a:p>
          <a:pPr algn="l"/>
          <a:r>
            <a:rPr lang="en-US" sz="1600" baseline="0" dirty="0" smtClean="0">
              <a:latin typeface="Times New Roman" panose="02020603050405020304" pitchFamily="18" charset="0"/>
              <a:cs typeface="Times New Roman" panose="02020603050405020304" pitchFamily="18" charset="0"/>
            </a:rPr>
            <a:t>Weekly Meetings scheduled.</a:t>
          </a:r>
        </a:p>
        <a:p>
          <a:pPr algn="l"/>
          <a:endParaRPr lang="en-US" sz="16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F98BDDE5-CABB-42D4-A974-36F679ED7B56}">
      <dgm:prSet custT="1"/>
      <dgm:spPr/>
      <dgm:t>
        <a:bodyPr/>
        <a:lstStyle/>
        <a:p>
          <a:pPr algn="l"/>
          <a:r>
            <a:rPr lang="en-US" sz="1600" dirty="0" smtClean="0">
              <a:latin typeface="Times New Roman" panose="02020603050405020304" pitchFamily="18" charset="0"/>
              <a:cs typeface="Times New Roman" panose="02020603050405020304" pitchFamily="18" charset="0"/>
            </a:rPr>
            <a:t>Will be in Shadow Sprint</a:t>
          </a:r>
          <a:endParaRPr lang="en-US" sz="1600" dirty="0"/>
        </a:p>
      </dgm:t>
    </dgm:pt>
    <dgm:pt modelId="{C1B5F8C9-A046-400C-AC28-DDDBD3A612DE}" type="parTrans" cxnId="{DDE75F6E-5B9D-4C7E-8764-0D602CF80ADD}">
      <dgm:prSet/>
      <dgm:spPr/>
      <dgm:t>
        <a:bodyPr/>
        <a:lstStyle/>
        <a:p>
          <a:endParaRPr lang="en-US"/>
        </a:p>
      </dgm:t>
    </dgm:pt>
    <dgm:pt modelId="{043C7876-C191-468B-847A-1631613BBBA7}" type="sibTrans" cxnId="{DDE75F6E-5B9D-4C7E-8764-0D602CF80ADD}">
      <dgm:prSet/>
      <dgm:spPr/>
      <dgm:t>
        <a:bodyPr/>
        <a:lstStyle/>
        <a:p>
          <a:endParaRPr lang="en-US"/>
        </a:p>
      </dgm:t>
    </dgm:pt>
    <dgm:pt modelId="{13FD096A-AAFF-4585-97E6-5769A84A2251}">
      <dgm:prSet custT="1"/>
      <dgm:spPr/>
      <dgm:t>
        <a:bodyPr/>
        <a:lstStyle/>
        <a:p>
          <a:pPr algn="l"/>
          <a:r>
            <a:rPr lang="en-US" sz="1600" dirty="0" smtClean="0">
              <a:latin typeface="Times New Roman" panose="02020603050405020304" pitchFamily="18" charset="0"/>
              <a:cs typeface="Times New Roman" panose="02020603050405020304" pitchFamily="18" charset="0"/>
            </a:rPr>
            <a:t>Will be in Shadow Sprint</a:t>
          </a:r>
          <a:endParaRPr lang="en-US" sz="1600" dirty="0"/>
        </a:p>
      </dgm:t>
    </dgm:pt>
    <dgm:pt modelId="{C1062465-E95B-434C-B7B1-173260A4DEEA}" type="parTrans" cxnId="{50C907FB-5CF9-4681-B519-0E2569CF619E}">
      <dgm:prSet/>
      <dgm:spPr/>
      <dgm:t>
        <a:bodyPr/>
        <a:lstStyle/>
        <a:p>
          <a:endParaRPr lang="en-US"/>
        </a:p>
      </dgm:t>
    </dgm:pt>
    <dgm:pt modelId="{67BC799D-8CE2-42D3-AEA9-772F838EA20A}" type="sibTrans" cxnId="{50C907FB-5CF9-4681-B519-0E2569CF619E}">
      <dgm:prSet/>
      <dgm:spPr/>
      <dgm:t>
        <a:bodyPr/>
        <a:lstStyle/>
        <a:p>
          <a:endParaRPr lang="en-US"/>
        </a:p>
      </dgm:t>
    </dgm:pt>
    <dgm:pt modelId="{0DB3B5D4-6342-4EE8-8AEE-F4D44BCD77DB}">
      <dgm:prSet/>
      <dgm:spPr/>
      <dgm:t>
        <a:bodyPr/>
        <a:lstStyle/>
        <a:p>
          <a:pPr algn="l"/>
          <a:r>
            <a:rPr lang="en-US" dirty="0" smtClean="0">
              <a:latin typeface="Times New Roman" panose="02020603050405020304" pitchFamily="18" charset="0"/>
              <a:cs typeface="Times New Roman" panose="02020603050405020304" pitchFamily="18" charset="0"/>
            </a:rPr>
            <a:t>Learned to use professional security for practical testing.</a:t>
          </a:r>
          <a:endParaRPr lang="en-US" dirty="0">
            <a:latin typeface="Times New Roman" panose="02020603050405020304" pitchFamily="18" charset="0"/>
            <a:cs typeface="Times New Roman" panose="02020603050405020304" pitchFamily="18" charset="0"/>
          </a:endParaRPr>
        </a:p>
      </dgm:t>
    </dgm:pt>
    <dgm:pt modelId="{E3396B5D-153A-474B-8529-B0391F8E5995}" type="parTrans" cxnId="{431EE39F-3F6E-4CF9-9E64-14807B71C835}">
      <dgm:prSet/>
      <dgm:spPr/>
      <dgm:t>
        <a:bodyPr/>
        <a:lstStyle/>
        <a:p>
          <a:endParaRPr lang="en-US"/>
        </a:p>
      </dgm:t>
    </dgm:pt>
    <dgm:pt modelId="{24A8F198-AD47-417E-AF5F-94D5121A47B9}" type="sibTrans" cxnId="{431EE39F-3F6E-4CF9-9E64-14807B71C835}">
      <dgm:prSet/>
      <dgm:spPr/>
      <dgm:t>
        <a:bodyPr/>
        <a:lstStyle/>
        <a:p>
          <a:endParaRPr lang="en-US"/>
        </a:p>
      </dgm:t>
    </dgm:pt>
    <dgm:pt modelId="{1B18A884-8654-479C-B4CE-408F320D5E37}">
      <dgm:prSet/>
      <dgm:spPr/>
      <dgm:t>
        <a:bodyPr/>
        <a:lstStyle/>
        <a:p>
          <a:pPr algn="l"/>
          <a:r>
            <a:rPr lang="en-US" dirty="0" smtClean="0">
              <a:latin typeface="Times New Roman" panose="02020603050405020304" pitchFamily="18" charset="0"/>
              <a:cs typeface="Times New Roman" panose="02020603050405020304" pitchFamily="18" charset="0"/>
            </a:rPr>
            <a:t>Developed skills in analyzing vulnerabilities and documenting.</a:t>
          </a:r>
          <a:endParaRPr lang="en-US" dirty="0">
            <a:latin typeface="Times New Roman" panose="02020603050405020304" pitchFamily="18" charset="0"/>
            <a:cs typeface="Times New Roman" panose="02020603050405020304" pitchFamily="18" charset="0"/>
          </a:endParaRPr>
        </a:p>
      </dgm:t>
    </dgm:pt>
    <dgm:pt modelId="{76A597BE-E316-419D-B89E-1E24F65EFC0B}" type="parTrans" cxnId="{E5507014-1AB2-48E4-A759-7696B6661BCE}">
      <dgm:prSet/>
      <dgm:spPr/>
      <dgm:t>
        <a:bodyPr/>
        <a:lstStyle/>
        <a:p>
          <a:endParaRPr lang="en-US"/>
        </a:p>
      </dgm:t>
    </dgm:pt>
    <dgm:pt modelId="{EC0B2738-48FD-46E4-8565-31B048882E75}" type="sibTrans" cxnId="{E5507014-1AB2-48E4-A759-7696B6661BCE}">
      <dgm:prSet/>
      <dgm:spPr/>
      <dgm:t>
        <a:bodyPr/>
        <a:lstStyle/>
        <a:p>
          <a:endParaRPr lang="en-US"/>
        </a:p>
      </dgm:t>
    </dgm:pt>
    <dgm:pt modelId="{46CA520A-2ED5-41F1-8F61-12D8A776317F}">
      <dgm:prSet custT="1"/>
      <dgm:spPr/>
      <dgm:t>
        <a:bodyPr/>
        <a:lstStyle/>
        <a:p>
          <a:pPr algn="l"/>
          <a:r>
            <a:rPr lang="en-US" sz="1400" dirty="0" smtClean="0">
              <a:latin typeface="Times New Roman" panose="02020603050405020304" pitchFamily="18" charset="0"/>
              <a:cs typeface="Times New Roman" panose="02020603050405020304" pitchFamily="18" charset="0"/>
            </a:rPr>
            <a:t>Basics of Cyber Security.  Introduction to different domains.</a:t>
          </a:r>
          <a:endParaRPr lang="en-US" sz="1400" dirty="0"/>
        </a:p>
      </dgm:t>
    </dgm:pt>
    <dgm:pt modelId="{977AF98B-AF52-458B-945B-8E24B138A004}" type="parTrans" cxnId="{D1762E4D-49A4-4ABD-989A-03678E4DB59D}">
      <dgm:prSet/>
      <dgm:spPr/>
      <dgm:t>
        <a:bodyPr/>
        <a:lstStyle/>
        <a:p>
          <a:endParaRPr lang="en-US"/>
        </a:p>
      </dgm:t>
    </dgm:pt>
    <dgm:pt modelId="{4EC80175-33B3-41FE-961A-2BED416B8250}" type="sibTrans" cxnId="{D1762E4D-49A4-4ABD-989A-03678E4DB59D}">
      <dgm:prSet/>
      <dgm:spPr/>
      <dgm:t>
        <a:bodyPr/>
        <a:lstStyle/>
        <a:p>
          <a:endParaRPr lang="en-US"/>
        </a:p>
      </dgm:t>
    </dgm:pt>
    <dgm:pt modelId="{7E8910BC-ECC2-4DF0-81C9-786F362F0F9D}">
      <dgm:prSet custT="1"/>
      <dgm:spPr/>
      <dgm:t>
        <a:bodyPr/>
        <a:lstStyle/>
        <a:p>
          <a:pPr algn="l"/>
          <a:r>
            <a:rPr lang="en-US" sz="1400" dirty="0" smtClean="0">
              <a:latin typeface="Times New Roman" panose="02020603050405020304" pitchFamily="18" charset="0"/>
              <a:cs typeface="Times New Roman" panose="02020603050405020304" pitchFamily="18" charset="0"/>
            </a:rPr>
            <a:t>Setting up the lab and having hands-on experience as a beginner. </a:t>
          </a:r>
          <a:endParaRPr lang="en-US" sz="1400" dirty="0">
            <a:latin typeface="Times New Roman" panose="02020603050405020304" pitchFamily="18" charset="0"/>
            <a:cs typeface="Times New Roman" panose="02020603050405020304" pitchFamily="18" charset="0"/>
          </a:endParaRPr>
        </a:p>
      </dgm:t>
    </dgm:pt>
    <dgm:pt modelId="{E75082F9-B4FE-4009-A809-642E436791E1}" type="parTrans" cxnId="{7C0CB72D-8B9D-4618-91F9-26EE3B32C135}">
      <dgm:prSet/>
      <dgm:spPr/>
      <dgm:t>
        <a:bodyPr/>
        <a:lstStyle/>
        <a:p>
          <a:endParaRPr lang="en-US"/>
        </a:p>
      </dgm:t>
    </dgm:pt>
    <dgm:pt modelId="{B62AE831-92BD-48A4-8165-DA887B6A9E70}" type="sibTrans" cxnId="{7C0CB72D-8B9D-4618-91F9-26EE3B32C135}">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t>
        <a:bodyPr/>
        <a:lstStyle/>
        <a:p>
          <a:endParaRPr lang="en-US"/>
        </a:p>
      </dgm:t>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t>
        <a:bodyPr/>
        <a:lstStyle/>
        <a:p>
          <a:endParaRPr lang="en-US"/>
        </a:p>
      </dgm:t>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t>
        <a:bodyPr/>
        <a:lstStyle/>
        <a:p>
          <a:endParaRPr lang="en-US"/>
        </a:p>
      </dgm:t>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A6532C16-AFEE-4EEA-891E-F5DAB7412E13}" type="presOf" srcId="{73DB572E-062D-41AD-8033-D361B8E583DB}" destId="{2532504F-5FE1-4C97-B485-F05E8885EAC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DD95A5A6-6B37-4EFC-95CA-833FCFD644CB}" type="presOf" srcId="{F98BDDE5-CABB-42D4-A974-36F679ED7B56}" destId="{FC0F1314-3294-4A8C-8DCE-EB53E236164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50306F2C-6A76-4C50-B5F2-B74AE8D71D62}" type="presOf" srcId="{13FD096A-AAFF-4585-97E6-5769A84A2251}" destId="{8CAE5A4D-0C7B-48A6-917B-0B8433D0574B}" srcOrd="0" destOrd="0" presId="urn:microsoft.com/office/officeart/2011/layout/InterconnectedBlockProcess"/>
    <dgm:cxn modelId="{9DB85AC1-A2B3-417A-966E-C77E9331AFA5}" type="presOf" srcId="{0DB3B5D4-6342-4EE8-8AEE-F4D44BCD77DB}" destId="{6BCCFBA6-7A43-4631-AD7F-AFB10E1E6CD7}" srcOrd="1" destOrd="1" presId="urn:microsoft.com/office/officeart/2011/layout/InterconnectedBlockProcess"/>
    <dgm:cxn modelId="{7C0CB72D-8B9D-4618-91F9-26EE3B32C135}" srcId="{988D96B0-D16E-4763-B393-84178CF4FF50}" destId="{7E8910BC-ECC2-4DF0-81C9-786F362F0F9D}" srcOrd="1" destOrd="0" parTransId="{E75082F9-B4FE-4009-A809-642E436791E1}" sibTransId="{B62AE831-92BD-48A4-8165-DA887B6A9E70}"/>
    <dgm:cxn modelId="{DA8CD5E8-B2EE-41E4-8EC6-CFB41D688F68}" srcId="{5751524B-FB67-4894-A0C5-35151E149D68}" destId="{5E92505A-51E0-4F78-B3C5-704ACF8710DE}" srcOrd="3" destOrd="0" parTransId="{765B1266-7CE2-4F9C-AE38-D97DFBC1B151}" sibTransId="{5E9E6A6F-635A-4791-A107-01E95B62EA08}"/>
    <dgm:cxn modelId="{DCBBD912-689F-4398-945B-50D7C906D480}" type="presOf" srcId="{65C051F6-A849-4495-A964-CD4C650B9C06}" destId="{C73DE52A-2F45-45E6-AD0E-D5BEAF609F8E}"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9702626F-9312-41F5-B10E-8735E6FBC55A}" type="presOf" srcId="{13FD096A-AAFF-4585-97E6-5769A84A2251}" destId="{928B615F-0F8D-4140-A638-0FBB8F5BF1E9}" srcOrd="1" destOrd="0" presId="urn:microsoft.com/office/officeart/2011/layout/InterconnectedBlockProcess"/>
    <dgm:cxn modelId="{DDE75F6E-5B9D-4C7E-8764-0D602CF80ADD}" srcId="{5E92505A-51E0-4F78-B3C5-704ACF8710DE}" destId="{F98BDDE5-CABB-42D4-A974-36F679ED7B56}" srcOrd="0" destOrd="0" parTransId="{C1B5F8C9-A046-400C-AC28-DDDBD3A612DE}" sibTransId="{043C7876-C191-468B-847A-1631613BBBA7}"/>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37086B1F-6F2D-4E04-BBA5-8A0C781FA084}" type="presOf" srcId="{46CA520A-2ED5-41F1-8F61-12D8A776317F}" destId="{A134CDD1-D85F-44EF-8BEE-9F99A855C1E6}"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73A73E47-2287-4E59-872B-9587AF031A93}" type="presOf" srcId="{F98BDDE5-CABB-42D4-A974-36F679ED7B56}" destId="{98225A61-A0EC-450A-BED8-EF2E47E8FD18}" srcOrd="1" destOrd="0" presId="urn:microsoft.com/office/officeart/2011/layout/InterconnectedBlockProcess"/>
    <dgm:cxn modelId="{E5507014-1AB2-48E4-A759-7696B6661BCE}" srcId="{7B3055AA-BF7C-46D0-9A9E-60087B9F57B4}" destId="{1B18A884-8654-479C-B4CE-408F320D5E37}" srcOrd="2" destOrd="0" parTransId="{76A597BE-E316-419D-B89E-1E24F65EFC0B}" sibTransId="{EC0B2738-48FD-46E4-8565-31B048882E75}"/>
    <dgm:cxn modelId="{6C7D4BBB-EED6-4011-9FBC-87F683D5B245}" srcId="{5751524B-FB67-4894-A0C5-35151E149D68}" destId="{7B3055AA-BF7C-46D0-9A9E-60087B9F57B4}" srcOrd="1" destOrd="0" parTransId="{F772EF41-D2BB-4368-8327-B4E332165F48}" sibTransId="{B81593E2-4CAC-4783-8D2D-E9DDD236A942}"/>
    <dgm:cxn modelId="{AA17007A-110D-43AE-B6F2-DF2DF885F2E2}" srcId="{A59EC69B-8F3F-425B-819F-E8C557946AEE}" destId="{73DB572E-062D-41AD-8033-D361B8E583DB}" srcOrd="0" destOrd="0" parTransId="{75D01B62-D132-48B8-9D06-D0A551A21107}" sibTransId="{98BDB650-3386-4D3D-8E80-609010499291}"/>
    <dgm:cxn modelId="{58E76652-C24F-44B0-96A9-DDF4DA4C870A}" type="presOf" srcId="{7B3055AA-BF7C-46D0-9A9E-60087B9F57B4}" destId="{00BB3360-A9BB-4051-A4B1-1216F82F642C}"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50C907FB-5CF9-4681-B519-0E2569CF619E}" srcId="{65C051F6-A849-4495-A964-CD4C650B9C06}" destId="{13FD096A-AAFF-4585-97E6-5769A84A2251}" srcOrd="0" destOrd="0" parTransId="{C1062465-E95B-434C-B7B1-173260A4DEEA}" sibTransId="{67BC799D-8CE2-42D3-AEA9-772F838EA20A}"/>
    <dgm:cxn modelId="{D0A59334-C8A7-4687-985A-A4E8F406EBD6}" type="presOf" srcId="{1B18A884-8654-479C-B4CE-408F320D5E37}" destId="{06F8D57B-EDF4-4CF4-8700-DC2CA3E3028E}" srcOrd="0" destOrd="2" presId="urn:microsoft.com/office/officeart/2011/layout/InterconnectedBlockProcess"/>
    <dgm:cxn modelId="{E6B70501-CFCB-4D4A-94BE-F63036069196}" type="presOf" srcId="{5751524B-FB67-4894-A0C5-35151E149D68}" destId="{A6BCDA7B-D633-438F-B44D-CB4D60E5C492}" srcOrd="0" destOrd="0" presId="urn:microsoft.com/office/officeart/2011/layout/InterconnectedBlockProcess"/>
    <dgm:cxn modelId="{D1762E4D-49A4-4ABD-989A-03678E4DB59D}" srcId="{988D96B0-D16E-4763-B393-84178CF4FF50}" destId="{46CA520A-2ED5-41F1-8F61-12D8A776317F}" srcOrd="0" destOrd="0" parTransId="{977AF98B-AF52-458B-945B-8E24B138A004}" sibTransId="{4EC80175-33B3-41FE-961A-2BED416B8250}"/>
    <dgm:cxn modelId="{7333804E-F130-451A-B06F-A6F76B6C0B34}" type="presOf" srcId="{1B18A884-8654-479C-B4CE-408F320D5E37}" destId="{6BCCFBA6-7A43-4631-AD7F-AFB10E1E6CD7}" srcOrd="1" destOrd="2" presId="urn:microsoft.com/office/officeart/2011/layout/InterconnectedBlockProcess"/>
    <dgm:cxn modelId="{6F075B2D-F19B-4412-86DE-6464A1FF1F01}" type="presOf" srcId="{7E8910BC-ECC2-4DF0-81C9-786F362F0F9D}" destId="{1C91D7E3-8940-4A33-9182-677DD5415901}" srcOrd="1" destOrd="1" presId="urn:microsoft.com/office/officeart/2011/layout/InterconnectedBlockProcess"/>
    <dgm:cxn modelId="{431EE39F-3F6E-4CF9-9E64-14807B71C835}" srcId="{7B3055AA-BF7C-46D0-9A9E-60087B9F57B4}" destId="{0DB3B5D4-6342-4EE8-8AEE-F4D44BCD77DB}" srcOrd="1" destOrd="0" parTransId="{E3396B5D-153A-474B-8529-B0391F8E5995}" sibTransId="{24A8F198-AD47-417E-AF5F-94D5121A47B9}"/>
    <dgm:cxn modelId="{8A62A46C-3A9C-4B54-A9DD-C9C25E2882F8}" type="presOf" srcId="{7E8910BC-ECC2-4DF0-81C9-786F362F0F9D}" destId="{A134CDD1-D85F-44EF-8BEE-9F99A855C1E6}" srcOrd="0" destOrd="1" presId="urn:microsoft.com/office/officeart/2011/layout/InterconnectedBlockProcess"/>
    <dgm:cxn modelId="{379D72E2-F23A-4E7C-B4A2-C81AFCA8EDE4}" type="presOf" srcId="{0DB3B5D4-6342-4EE8-8AEE-F4D44BCD77DB}" destId="{06F8D57B-EDF4-4CF4-8700-DC2CA3E3028E}" srcOrd="0" destOrd="1" presId="urn:microsoft.com/office/officeart/2011/layout/InterconnectedBlockProcess"/>
    <dgm:cxn modelId="{73EF75CF-01BD-4DDE-82FC-B50589A9D6FD}" type="presOf" srcId="{46CA520A-2ED5-41F1-8F61-12D8A776317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9"/>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lvl="0" algn="l" defTabSz="711200">
            <a:lnSpc>
              <a:spcPct val="90000"/>
            </a:lnSpc>
            <a:spcBef>
              <a:spcPct val="0"/>
            </a:spcBef>
            <a:spcAft>
              <a:spcPct val="35000"/>
            </a:spcAft>
          </a:pPr>
          <a:r>
            <a:rPr lang="en-US" sz="1600" kern="1200" dirty="0" smtClean="0">
              <a:latin typeface="Times New Roman" panose="02020603050405020304" pitchFamily="18" charset="0"/>
              <a:cs typeface="Times New Roman" panose="02020603050405020304" pitchFamily="18" charset="0"/>
            </a:rPr>
            <a:t>Will be in Shadow Sprint</a:t>
          </a:r>
          <a:endParaRPr lang="en-US" sz="1600" kern="1200" dirty="0"/>
        </a:p>
      </dsp:txBody>
      <dsp:txXfrm>
        <a:off x="7335949" y="811639"/>
        <a:ext cx="1116055" cy="3246556"/>
      </dsp:txXfrm>
    </dsp:sp>
    <dsp:sp modelId="{C73DE52A-2F45-45E6-AD0E-D5BEAF609F8E}">
      <dsp:nvSpPr>
        <dsp:cNvPr id="0" name=""/>
        <dsp:cNvSpPr/>
      </dsp:nvSpPr>
      <dsp:spPr>
        <a:xfrm>
          <a:off x="7173684"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Final Review</a:t>
          </a:r>
          <a:endParaRPr lang="en-US" sz="2000" kern="1200" dirty="0">
            <a:latin typeface="Times New Roman" panose="02020603050405020304" pitchFamily="18" charset="0"/>
            <a:cs typeface="Times New Roman" panose="02020603050405020304" pitchFamily="18" charset="0"/>
          </a:endParaRPr>
        </a:p>
      </dsp:txBody>
      <dsp:txXfrm>
        <a:off x="7173684" y="0"/>
        <a:ext cx="1278320" cy="811639"/>
      </dsp:txXfrm>
    </dsp:sp>
    <dsp:sp modelId="{FC0F1314-3294-4A8C-8DCE-EB53E236164C}">
      <dsp:nvSpPr>
        <dsp:cNvPr id="0" name=""/>
        <dsp:cNvSpPr/>
      </dsp:nvSpPr>
      <dsp:spPr>
        <a:xfrm>
          <a:off x="5898557" y="811639"/>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lvl="0" algn="l" defTabSz="711200">
            <a:lnSpc>
              <a:spcPct val="90000"/>
            </a:lnSpc>
            <a:spcBef>
              <a:spcPct val="0"/>
            </a:spcBef>
            <a:spcAft>
              <a:spcPct val="35000"/>
            </a:spcAft>
          </a:pPr>
          <a:r>
            <a:rPr lang="en-US" sz="1600" kern="1200" dirty="0" smtClean="0">
              <a:latin typeface="Times New Roman" panose="02020603050405020304" pitchFamily="18" charset="0"/>
              <a:cs typeface="Times New Roman" panose="02020603050405020304" pitchFamily="18" charset="0"/>
            </a:rPr>
            <a:t>Will be in Shadow Sprint</a:t>
          </a:r>
          <a:endParaRPr lang="en-US" sz="1600" kern="1200" dirty="0"/>
        </a:p>
      </dsp:txBody>
      <dsp:txXfrm>
        <a:off x="6060823" y="811639"/>
        <a:ext cx="1116055" cy="3043646"/>
      </dsp:txXfrm>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4</a:t>
          </a:r>
          <a:endParaRPr lang="en-US" sz="2000" kern="1200" dirty="0">
            <a:latin typeface="Times New Roman" panose="02020603050405020304" pitchFamily="18" charset="0"/>
            <a:cs typeface="Times New Roman" panose="02020603050405020304" pitchFamily="18" charset="0"/>
          </a:endParaRPr>
        </a:p>
      </dsp:txBody>
      <dsp:txXfrm>
        <a:off x="5898557" y="101454"/>
        <a:ext cx="1278320" cy="710184"/>
      </dsp:txXfrm>
    </dsp:sp>
    <dsp:sp modelId="{2532504F-5FE1-4C97-B485-F05E8885EACC}">
      <dsp:nvSpPr>
        <dsp:cNvPr id="0" name=""/>
        <dsp:cNvSpPr/>
      </dsp:nvSpPr>
      <dsp:spPr>
        <a:xfrm>
          <a:off x="4620236" y="811639"/>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lvl="0" algn="l" defTabSz="711200">
            <a:lnSpc>
              <a:spcPct val="90000"/>
            </a:lnSpc>
            <a:spcBef>
              <a:spcPct val="0"/>
            </a:spcBef>
            <a:spcAft>
              <a:spcPct val="35000"/>
            </a:spcAft>
          </a:pPr>
          <a:r>
            <a:rPr lang="en-US" sz="1600" kern="1200" dirty="0" smtClean="0">
              <a:latin typeface="Times New Roman" panose="02020603050405020304" pitchFamily="18" charset="0"/>
              <a:cs typeface="Times New Roman" panose="02020603050405020304" pitchFamily="18" charset="0"/>
            </a:rPr>
            <a:t>In</a:t>
          </a:r>
          <a:r>
            <a:rPr lang="en-US" sz="1600" kern="1200" baseline="0" dirty="0" smtClean="0">
              <a:latin typeface="Times New Roman" panose="02020603050405020304" pitchFamily="18" charset="0"/>
              <a:cs typeface="Times New Roman" panose="02020603050405020304" pitchFamily="18" charset="0"/>
            </a:rPr>
            <a:t> shadow sprint. </a:t>
          </a:r>
        </a:p>
        <a:p>
          <a:pPr lvl="0" algn="l" defTabSz="711200">
            <a:lnSpc>
              <a:spcPct val="90000"/>
            </a:lnSpc>
            <a:spcBef>
              <a:spcPct val="0"/>
            </a:spcBef>
            <a:spcAft>
              <a:spcPct val="35000"/>
            </a:spcAft>
          </a:pPr>
          <a:r>
            <a:rPr lang="en-US" sz="1600" kern="1200" baseline="0" dirty="0" smtClean="0">
              <a:latin typeface="Times New Roman" panose="02020603050405020304" pitchFamily="18" charset="0"/>
              <a:cs typeface="Times New Roman" panose="02020603050405020304" pitchFamily="18" charset="0"/>
            </a:rPr>
            <a:t>Working on Tasks assigned. </a:t>
          </a:r>
        </a:p>
        <a:p>
          <a:pPr lvl="0" algn="l" defTabSz="711200">
            <a:lnSpc>
              <a:spcPct val="90000"/>
            </a:lnSpc>
            <a:spcBef>
              <a:spcPct val="0"/>
            </a:spcBef>
            <a:spcAft>
              <a:spcPct val="35000"/>
            </a:spcAft>
          </a:pPr>
          <a:r>
            <a:rPr lang="en-US" sz="1600" kern="1200" baseline="0" dirty="0" smtClean="0">
              <a:latin typeface="Times New Roman" panose="02020603050405020304" pitchFamily="18" charset="0"/>
              <a:cs typeface="Times New Roman" panose="02020603050405020304" pitchFamily="18" charset="0"/>
            </a:rPr>
            <a:t>Weekly Meetings scheduled.</a:t>
          </a:r>
        </a:p>
        <a:p>
          <a:pPr lvl="0" algn="l" defTabSz="711200">
            <a:lnSpc>
              <a:spcPct val="90000"/>
            </a:lnSpc>
            <a:spcBef>
              <a:spcPct val="0"/>
            </a:spcBef>
            <a:spcAft>
              <a:spcPct val="35000"/>
            </a:spcAft>
          </a:pPr>
          <a:endParaRPr lang="en-US" sz="1600" kern="1200" dirty="0">
            <a:latin typeface="Times New Roman" panose="02020603050405020304" pitchFamily="18" charset="0"/>
            <a:cs typeface="Times New Roman" panose="02020603050405020304" pitchFamily="18" charset="0"/>
          </a:endParaRPr>
        </a:p>
      </dsp:txBody>
      <dsp:txXfrm>
        <a:off x="4782502" y="811639"/>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3</a:t>
          </a:r>
          <a:endParaRPr lang="en-US" sz="2000" kern="1200" dirty="0">
            <a:latin typeface="Times New Roman" panose="02020603050405020304" pitchFamily="18" charset="0"/>
            <a:cs typeface="Times New Roman" panose="02020603050405020304" pitchFamily="18" charset="0"/>
          </a:endParaRPr>
        </a:p>
      </dsp:txBody>
      <dsp:txXfrm>
        <a:off x="4620236" y="206156"/>
        <a:ext cx="1278320" cy="608729"/>
      </dsp:txXfrm>
    </dsp:sp>
    <dsp:sp modelId="{06F8D57B-EDF4-4CF4-8700-DC2CA3E3028E}">
      <dsp:nvSpPr>
        <dsp:cNvPr id="0" name=""/>
        <dsp:cNvSpPr/>
      </dsp:nvSpPr>
      <dsp:spPr>
        <a:xfrm>
          <a:off x="3341915" y="811639"/>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Gained hands-on experience exploiting real vulnerabilities.</a:t>
          </a:r>
          <a:endParaRPr lang="en-US" sz="1200" kern="1200" dirty="0">
            <a:latin typeface="Times New Roman" panose="02020603050405020304" pitchFamily="18" charset="0"/>
            <a:cs typeface="Times New Roman" panose="02020603050405020304" pitchFamily="18" charset="0"/>
          </a:endParaRPr>
        </a:p>
        <a:p>
          <a:pPr lvl="0" algn="l"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Learned to use professional security for practical testing.</a:t>
          </a:r>
          <a:endParaRPr lang="en-US" sz="1200" kern="1200" dirty="0">
            <a:latin typeface="Times New Roman" panose="02020603050405020304" pitchFamily="18" charset="0"/>
            <a:cs typeface="Times New Roman" panose="02020603050405020304" pitchFamily="18" charset="0"/>
          </a:endParaRPr>
        </a:p>
        <a:p>
          <a:pPr lvl="0" algn="l"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Developed skills in analyzing vulnerabilities and documenting.</a:t>
          </a:r>
          <a:endParaRPr lang="en-US" sz="1200" kern="1200" dirty="0">
            <a:latin typeface="Times New Roman" panose="02020603050405020304" pitchFamily="18" charset="0"/>
            <a:cs typeface="Times New Roman" panose="02020603050405020304" pitchFamily="18" charset="0"/>
          </a:endParaRPr>
        </a:p>
      </dsp:txBody>
      <dsp:txXfrm>
        <a:off x="3504181" y="811639"/>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2</a:t>
          </a:r>
          <a:endParaRPr lang="en-US" sz="2000" kern="1200" dirty="0">
            <a:latin typeface="Times New Roman" panose="02020603050405020304" pitchFamily="18" charset="0"/>
            <a:cs typeface="Times New Roman" panose="02020603050405020304" pitchFamily="18" charset="0"/>
          </a:endParaRPr>
        </a:p>
      </dsp:txBody>
      <dsp:txXfrm>
        <a:off x="3341915" y="304364"/>
        <a:ext cx="1278320" cy="507274"/>
      </dsp:txXfrm>
    </dsp:sp>
    <dsp:sp modelId="{A134CDD1-D85F-44EF-8BEE-9F99A855C1E6}">
      <dsp:nvSpPr>
        <dsp:cNvPr id="0" name=""/>
        <dsp:cNvSpPr/>
      </dsp:nvSpPr>
      <dsp:spPr>
        <a:xfrm>
          <a:off x="2063594" y="811639"/>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lvl="0" algn="l" defTabSz="622300">
            <a:lnSpc>
              <a:spcPct val="90000"/>
            </a:lnSpc>
            <a:spcBef>
              <a:spcPct val="0"/>
            </a:spcBef>
            <a:spcAft>
              <a:spcPct val="35000"/>
            </a:spcAft>
          </a:pPr>
          <a:r>
            <a:rPr lang="en-US" sz="1400" kern="1200" dirty="0" smtClean="0">
              <a:latin typeface="Times New Roman" panose="02020603050405020304" pitchFamily="18" charset="0"/>
              <a:cs typeface="Times New Roman" panose="02020603050405020304" pitchFamily="18" charset="0"/>
            </a:rPr>
            <a:t>Basics of Cyber Security.  Introduction to different domains.</a:t>
          </a:r>
          <a:endParaRPr lang="en-US" sz="1400" kern="1200" dirty="0"/>
        </a:p>
        <a:p>
          <a:pPr lvl="0" algn="l" defTabSz="622300">
            <a:lnSpc>
              <a:spcPct val="90000"/>
            </a:lnSpc>
            <a:spcBef>
              <a:spcPct val="0"/>
            </a:spcBef>
            <a:spcAft>
              <a:spcPct val="35000"/>
            </a:spcAft>
          </a:pPr>
          <a:r>
            <a:rPr lang="en-US" sz="1400" kern="1200" dirty="0" smtClean="0">
              <a:latin typeface="Times New Roman" panose="02020603050405020304" pitchFamily="18" charset="0"/>
              <a:cs typeface="Times New Roman" panose="02020603050405020304" pitchFamily="18" charset="0"/>
            </a:rPr>
            <a:t>Setting up the lab and having hands-on experience as a beginner. </a:t>
          </a:r>
          <a:endParaRPr lang="en-US" sz="1400" kern="1200" dirty="0">
            <a:latin typeface="Times New Roman" panose="02020603050405020304" pitchFamily="18" charset="0"/>
            <a:cs typeface="Times New Roman" panose="02020603050405020304" pitchFamily="18" charset="0"/>
          </a:endParaRPr>
        </a:p>
      </dsp:txBody>
      <dsp:txXfrm>
        <a:off x="2225860" y="811639"/>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1</a:t>
          </a:r>
          <a:endParaRPr lang="en-US" sz="2000" kern="1200" dirty="0">
            <a:latin typeface="Times New Roman" panose="02020603050405020304" pitchFamily="18" charset="0"/>
            <a:cs typeface="Times New Roman" panose="02020603050405020304" pitchFamily="18" charset="0"/>
          </a:endParaRP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23/04/2026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23-04-2026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23-04-2026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23-04-2026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23-04-2026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23-04-2026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23-04-2026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23-04-2026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23-04-2026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23-04-2026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23-04-2026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23-04-2026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23-04-2026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lvl="0" algn="ctr">
              <a:buClr>
                <a:srgbClr val="17365D"/>
              </a:buClr>
              <a:buSzPts val="2000"/>
            </a:pPr>
            <a:r>
              <a:rPr lang="en-US" sz="2000" b="1"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dirty="0">
              <a:latin typeface="Cambria" panose="02040503050406030204" pitchFamily="18" charset="0"/>
              <a:ea typeface="Cambria" panose="02040503050406030204" pitchFamily="18" charset="0"/>
            </a:endParaRPr>
          </a:p>
          <a:p>
            <a:pPr lvl="0" algn="ctr">
              <a:spcBef>
                <a:spcPts val="400"/>
              </a:spcBef>
              <a:buClr>
                <a:srgbClr val="17365D"/>
              </a:buClr>
              <a:buSzPts val="2000"/>
            </a:pPr>
            <a:endParaRPr lang="en-US" sz="2000" b="1"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Guide - Ms. </a:t>
            </a:r>
            <a:r>
              <a:rPr lang="en-US" sz="1700" b="1" dirty="0" err="1">
                <a:solidFill>
                  <a:srgbClr val="17365D"/>
                </a:solidFill>
                <a:latin typeface="Cambria" panose="02040503050406030204" pitchFamily="18" charset="0"/>
                <a:ea typeface="Cambria" panose="02040503050406030204" pitchFamily="18" charset="0"/>
                <a:cs typeface="Verdana"/>
                <a:sym typeface="Verdana"/>
              </a:rPr>
              <a:t>Shaik</a:t>
            </a:r>
            <a:r>
              <a:rPr lang="en-US" sz="1700" b="1" dirty="0">
                <a:solidFill>
                  <a:srgbClr val="17365D"/>
                </a:solidFill>
                <a:latin typeface="Cambria" panose="02040503050406030204" pitchFamily="18" charset="0"/>
                <a:ea typeface="Cambria" panose="02040503050406030204" pitchFamily="18" charset="0"/>
                <a:cs typeface="Verdana"/>
                <a:sym typeface="Verdana"/>
              </a:rPr>
              <a:t> Salma Begum -  Assistant Professor</a:t>
            </a: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lang="en-US" sz="17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sz="1700" dirty="0">
              <a:latin typeface="Cambria" panose="02040503050406030204" pitchFamily="18" charset="0"/>
              <a:ea typeface="Cambria" panose="02040503050406030204" pitchFamily="18" charset="0"/>
            </a:endParaRPr>
          </a:p>
          <a:p>
            <a:pPr lvl="0">
              <a:spcBef>
                <a:spcPts val="400"/>
              </a:spcBef>
              <a:buClr>
                <a:srgbClr val="17365D"/>
              </a:buClr>
              <a:buSzPts val="2000"/>
            </a:pPr>
            <a:endParaRPr lang="en-US" sz="2400" b="1"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err="1">
                <a:latin typeface="Cambria" panose="02040503050406030204" pitchFamily="18" charset="0"/>
                <a:ea typeface="Cambria" panose="02040503050406030204" pitchFamily="18" charset="0"/>
                <a:cs typeface="Verdana"/>
                <a:sym typeface="Verdana"/>
              </a:rPr>
              <a:t>B.Tech</a:t>
            </a:r>
            <a:r>
              <a:rPr lang="en-US" sz="2000" b="1" dirty="0">
                <a:latin typeface="Cambria" panose="02040503050406030204" pitchFamily="18" charset="0"/>
                <a:ea typeface="Cambria" panose="02040503050406030204" pitchFamily="18" charset="0"/>
                <a:cs typeface="Verdana"/>
                <a:sym typeface="Verdana"/>
              </a:rPr>
              <a:t> (CSE)</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latin typeface="Cambria" panose="02040503050406030204" pitchFamily="18" charset="0"/>
                <a:ea typeface="Cambria" panose="02040503050406030204" pitchFamily="18" charset="0"/>
                <a:cs typeface="Verdana"/>
                <a:sym typeface="Verdana"/>
              </a:rPr>
              <a:t>Dr. Asif Mohammed</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latin typeface="Cambria" panose="02040503050406030204" pitchFamily="18" charset="0"/>
                <a:ea typeface="Cambria" panose="02040503050406030204" pitchFamily="18" charset="0"/>
                <a:cs typeface="Verdana"/>
                <a:sym typeface="Verdana"/>
              </a:rPr>
              <a:t>Ms. Riya </a:t>
            </a:r>
            <a:r>
              <a:rPr lang="en-US" sz="2000" b="1" dirty="0" err="1">
                <a:latin typeface="Cambria" panose="02040503050406030204" pitchFamily="18" charset="0"/>
                <a:ea typeface="Cambria" panose="02040503050406030204" pitchFamily="18" charset="0"/>
                <a:cs typeface="Verdana"/>
                <a:sym typeface="Verdana"/>
              </a:rPr>
              <a:t>Sanjesh</a:t>
            </a:r>
            <a:endParaRPr lang="en-US" sz="2000" b="1" dirty="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a:t>
            </a:r>
            <a:r>
              <a:rPr lang="en-US" sz="2000" b="1" dirty="0" err="1">
                <a:latin typeface="Cambria" panose="02040503050406030204" pitchFamily="18" charset="0"/>
                <a:ea typeface="Cambria" panose="02040503050406030204" pitchFamily="18" charset="0"/>
                <a:cs typeface="Verdana"/>
                <a:sym typeface="Verdana"/>
              </a:rPr>
              <a:t>Md</a:t>
            </a:r>
            <a:r>
              <a:rPr lang="en-US" sz="2000" b="1" dirty="0">
                <a:latin typeface="Cambria" panose="02040503050406030204" pitchFamily="18" charset="0"/>
                <a:ea typeface="Cambria" panose="02040503050406030204" pitchFamily="18" charset="0"/>
                <a:cs typeface="Verdana"/>
                <a:sym typeface="Verdana"/>
              </a:rPr>
              <a:t> </a:t>
            </a:r>
            <a:r>
              <a:rPr lang="en-US" sz="2000" b="1" dirty="0" err="1">
                <a:latin typeface="Cambria" panose="02040503050406030204" pitchFamily="18" charset="0"/>
                <a:ea typeface="Cambria" panose="02040503050406030204" pitchFamily="18" charset="0"/>
                <a:cs typeface="Verdana"/>
                <a:sym typeface="Verdana"/>
              </a:rPr>
              <a:t>Ziaur</a:t>
            </a:r>
            <a:r>
              <a:rPr lang="en-US" sz="2000" b="1" dirty="0">
                <a:latin typeface="Cambria" panose="02040503050406030204" pitchFamily="18" charset="0"/>
                <a:ea typeface="Cambria" panose="02040503050406030204" pitchFamily="18" charset="0"/>
                <a:cs typeface="Verdana"/>
                <a:sym typeface="Verdana"/>
              </a:rPr>
              <a:t> Rahman</a:t>
            </a: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smtClean="0">
                <a:solidFill>
                  <a:schemeClr val="accent1">
                    <a:lumMod val="75000"/>
                  </a:schemeClr>
                </a:solidFill>
                <a:latin typeface="Times New Roman" panose="02020603050405020304" pitchFamily="18" charset="0"/>
                <a:cs typeface="Times New Roman" panose="02020603050405020304" pitchFamily="18" charset="0"/>
              </a:rPr>
              <a:t>CSE7302 - INTERNSHIP</a:t>
            </a:r>
            <a:r>
              <a:rPr lang="en-IN" dirty="0" smtClean="0">
                <a:solidFill>
                  <a:srgbClr val="FF0000"/>
                </a:solidFill>
                <a:latin typeface="Times New Roman" panose="02020603050405020304" pitchFamily="18" charset="0"/>
                <a:cs typeface="Times New Roman" panose="02020603050405020304" pitchFamily="18" charset="0"/>
              </a:rPr>
              <a:t/>
            </a:r>
            <a:br>
              <a:rPr lang="en-IN" dirty="0" smtClean="0">
                <a:solidFill>
                  <a:srgbClr val="FF0000"/>
                </a:solidFill>
                <a:latin typeface="Times New Roman" panose="02020603050405020304" pitchFamily="18"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t>Review-3 Presentation </a:t>
            </a:r>
            <a:b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br>
            <a:r>
              <a:rPr lang="en-US" dirty="0">
                <a:solidFill>
                  <a:srgbClr val="0070C0"/>
                </a:solidFill>
                <a:latin typeface="Times New Roman" panose="02020603050405020304" pitchFamily="18" charset="0"/>
                <a:ea typeface="Tahoma" pitchFamily="34" charset="0"/>
                <a:cs typeface="Times New Roman" panose="02020603050405020304" pitchFamily="18" charset="0"/>
              </a:rPr>
              <a:t>KPMG – Global Services</a:t>
            </a:r>
            <a: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t/>
            </a:r>
            <a:b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Salini A</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20221CSE0640</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82550948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8CSE04</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About Company or </a:t>
            </a:r>
            <a:r>
              <a:rPr lang="en-US" sz="2000" b="1" dirty="0" smtClean="0">
                <a:solidFill>
                  <a:schemeClr val="accent1">
                    <a:lumMod val="75000"/>
                  </a:schemeClr>
                </a:solidFill>
                <a:latin typeface="Times New Roman" panose="02020603050405020304" pitchFamily="18" charset="0"/>
                <a:cs typeface="Times New Roman" panose="02020603050405020304" pitchFamily="18" charset="0"/>
              </a:rPr>
              <a:t>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a:t>
            </a: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work</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smtClean="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p:cNvSpPr>
            <a:spLocks noGrp="1"/>
          </p:cNvSpPr>
          <p:nvPr>
            <p:ph type="sldNum" sz="quarter" idx="12"/>
          </p:nvPr>
        </p:nvSpPr>
        <p:spPr>
          <a:xfrm>
            <a:off x="8610600" y="6356350"/>
            <a:ext cx="2743200" cy="365125"/>
          </a:xfrm>
        </p:spPr>
        <p:txBody>
          <a:bodyPr/>
          <a:lstStyle/>
          <a:p>
            <a:pPr>
              <a:defRPr/>
            </a:pPr>
            <a:fld id="{815EC703-C051-410C-8BA1-62752E291E83}" type="slidenum">
              <a:rPr lang="en-US" altLang="en-US" smtClean="0"/>
              <a:pPr>
                <a:defRPr/>
              </a:pPr>
              <a:t>3</a:t>
            </a:fld>
            <a:endParaRPr lang="en-US" altLang="en-US"/>
          </a:p>
        </p:txBody>
      </p:sp>
      <p:sp>
        <p:nvSpPr>
          <p:cNvPr id="17" name="Rectangle 16"/>
          <p:cNvSpPr/>
          <p:nvPr/>
        </p:nvSpPr>
        <p:spPr>
          <a:xfrm>
            <a:off x="480767" y="1772239"/>
            <a:ext cx="11208470" cy="3908762"/>
          </a:xfrm>
          <a:prstGeom prst="rect">
            <a:avLst/>
          </a:prstGeom>
        </p:spPr>
        <p:txBody>
          <a:bodyPr wrap="square">
            <a:spAutoFit/>
          </a:bodyPr>
          <a:lstStyle/>
          <a:p>
            <a:r>
              <a:rPr lang="en-US" sz="3200" b="1" dirty="0" smtClean="0">
                <a:solidFill>
                  <a:schemeClr val="accent1">
                    <a:lumMod val="75000"/>
                  </a:schemeClr>
                </a:solidFill>
                <a:latin typeface="Times New Roman" panose="02020603050405020304" pitchFamily="18" charset="0"/>
                <a:cs typeface="Times New Roman" panose="02020603050405020304" pitchFamily="18" charset="0"/>
              </a:rPr>
              <a:t>Overview</a:t>
            </a:r>
          </a:p>
          <a:p>
            <a:endParaRPr lang="en-US" sz="2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KPMG Global Services (KGS) is the global delivery and support organization of KPMG, one of the Big Four professional services networks.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KGS supports KPMG member firms worldwide by providing delivery excellence in:</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Audit (Assurance)</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Tax</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Advisory / Consulting</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Technology and Digital services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Focus: quality delivery, standardization, innovation, automation, and analytics.</a:t>
            </a:r>
          </a:p>
        </p:txBody>
      </p:sp>
      <p:sp>
        <p:nvSpPr>
          <p:cNvPr id="2" name="Rectangle 1"/>
          <p:cNvSpPr/>
          <p:nvPr/>
        </p:nvSpPr>
        <p:spPr>
          <a:xfrm>
            <a:off x="5104972" y="727558"/>
            <a:ext cx="1620957" cy="646331"/>
          </a:xfrm>
          <a:prstGeom prst="rect">
            <a:avLst/>
          </a:prstGeom>
        </p:spPr>
        <p:txBody>
          <a:bodyPr wrap="none">
            <a:spAutoFit/>
          </a:bodyPr>
          <a:lstStyle/>
          <a:p>
            <a:r>
              <a:rPr lang="en-US" sz="3600" b="1" dirty="0" smtClean="0">
                <a:solidFill>
                  <a:schemeClr val="accent1">
                    <a:lumMod val="75000"/>
                  </a:schemeClr>
                </a:solidFill>
                <a:latin typeface="Times New Roman" panose="02020603050405020304" pitchFamily="18" charset="0"/>
                <a:cs typeface="Times New Roman" panose="02020603050405020304" pitchFamily="18" charset="0"/>
              </a:rPr>
              <a:t>KPMG</a:t>
            </a:r>
            <a:endParaRPr lang="en-US" sz="3600" b="1"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8138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6201" y="325361"/>
            <a:ext cx="10649147" cy="5293757"/>
          </a:xfrm>
          <a:prstGeom prst="rect">
            <a:avLst/>
          </a:prstGeom>
        </p:spPr>
        <p:txBody>
          <a:bodyPr wrap="square">
            <a:spAutoFit/>
          </a:body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Key Services / Offerings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Audit support and assurance delivery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Tax research, compliance support and reporting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Risk &amp; governance support (GRC)</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Consulting delivery support (transformation, strategy, operations)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Technology enablement (data analytics, cloud support, automation, cybersecurity)</a:t>
            </a:r>
          </a:p>
          <a:p>
            <a:endParaRPr lang="en-US" dirty="0">
              <a:latin typeface="Times New Roman" panose="02020603050405020304" pitchFamily="18" charset="0"/>
              <a:cs typeface="Times New Roman" panose="02020603050405020304" pitchFamily="18" charset="0"/>
            </a:endParaRPr>
          </a:p>
          <a:p>
            <a:r>
              <a:rPr lang="en-US" sz="2800" b="1" dirty="0">
                <a:solidFill>
                  <a:schemeClr val="accent1">
                    <a:lumMod val="75000"/>
                  </a:schemeClr>
                </a:solidFill>
                <a:latin typeface="Times New Roman" panose="02020603050405020304" pitchFamily="18" charset="0"/>
                <a:cs typeface="Times New Roman" panose="02020603050405020304" pitchFamily="18" charset="0"/>
              </a:rPr>
              <a:t>Products / Solutions</a:t>
            </a:r>
          </a:p>
          <a:p>
            <a:r>
              <a:rPr lang="en-US" sz="2400" dirty="0">
                <a:latin typeface="Times New Roman" panose="02020603050405020304" pitchFamily="18" charset="0"/>
                <a:cs typeface="Times New Roman" panose="02020603050405020304" pitchFamily="18" charset="0"/>
              </a:rPr>
              <a:t>KGS supports KPMG firms through:</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analytics &amp; reporting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Digital transformation enablement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Automation tools &amp; AI-driven workflows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Cloud and enterprise platforms support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Cybersecurity and risk solutions support</a:t>
            </a:r>
          </a:p>
        </p:txBody>
      </p:sp>
    </p:spTree>
    <p:extLst>
      <p:ext uri="{BB962C8B-B14F-4D97-AF65-F5344CB8AC3E}">
        <p14:creationId xmlns:p14="http://schemas.microsoft.com/office/powerpoint/2010/main" val="38687750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12189" y="411169"/>
            <a:ext cx="10931951" cy="5878532"/>
          </a:xfrm>
          <a:prstGeom prst="rect">
            <a:avLst/>
          </a:prstGeom>
        </p:spPr>
        <p:txBody>
          <a:bodyPr wrap="square">
            <a:spAutoFit/>
          </a:body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Clients </a:t>
            </a:r>
          </a:p>
          <a:p>
            <a:endParaRPr lang="en-US" sz="28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KGS supports KPMG teams who work with large clients across sectors. Some real well-known KPMG clients include:</a:t>
            </a:r>
          </a:p>
          <a:p>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Deutsche Bank (Financial Services) </a:t>
            </a:r>
          </a:p>
          <a:p>
            <a:r>
              <a:rPr lang="en-US" sz="2400" dirty="0">
                <a:latin typeface="Times New Roman" panose="02020603050405020304" pitchFamily="18" charset="0"/>
                <a:cs typeface="Times New Roman" panose="02020603050405020304" pitchFamily="18" charset="0"/>
              </a:rPr>
              <a:t>- Wells Fargo (Banking) </a:t>
            </a:r>
          </a:p>
          <a:p>
            <a:r>
              <a:rPr lang="en-US" sz="2400" dirty="0">
                <a:latin typeface="Times New Roman" panose="02020603050405020304" pitchFamily="18" charset="0"/>
                <a:cs typeface="Times New Roman" panose="02020603050405020304" pitchFamily="18" charset="0"/>
              </a:rPr>
              <a:t>- Citigroup (Banking) </a:t>
            </a:r>
          </a:p>
          <a:p>
            <a:r>
              <a:rPr lang="en-US" sz="2400" dirty="0">
                <a:latin typeface="Times New Roman" panose="02020603050405020304" pitchFamily="18" charset="0"/>
                <a:cs typeface="Times New Roman" panose="02020603050405020304" pitchFamily="18" charset="0"/>
              </a:rPr>
              <a:t>- General Electric (GE) (Industrial &amp; Energy) </a:t>
            </a:r>
          </a:p>
          <a:p>
            <a:pPr marL="342900" indent="-342900">
              <a:buFontTx/>
              <a:buChar char="-"/>
            </a:pPr>
            <a:r>
              <a:rPr lang="en-US" sz="2400" dirty="0">
                <a:latin typeface="Times New Roman" panose="02020603050405020304" pitchFamily="18" charset="0"/>
                <a:cs typeface="Times New Roman" panose="02020603050405020304" pitchFamily="18" charset="0"/>
              </a:rPr>
              <a:t>Accenture (Technology &amp; Services)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KPMG has a presence in ~143 countries and territories across the world, with offices in North America, Europe, Asia-Pacific, Middle East, Africa and Latin America.</a:t>
            </a:r>
          </a:p>
          <a:p>
            <a:endParaRPr lang="en-US" sz="2400" dirty="0">
              <a:latin typeface="Times New Roman" panose="02020603050405020304" pitchFamily="18" charset="0"/>
              <a:cs typeface="Times New Roman" panose="02020603050405020304" pitchFamily="18" charset="0"/>
            </a:endParaRPr>
          </a:p>
          <a:p>
            <a:r>
              <a:rPr lang="en-IN" sz="3200" b="1" dirty="0" err="1">
                <a:solidFill>
                  <a:srgbClr val="0070C0"/>
                </a:solidFill>
              </a:rPr>
              <a:t>Klynveld</a:t>
            </a:r>
            <a:r>
              <a:rPr lang="en-IN" sz="3200" b="1" dirty="0">
                <a:solidFill>
                  <a:srgbClr val="0070C0"/>
                </a:solidFill>
              </a:rPr>
              <a:t> Peat Marwick </a:t>
            </a:r>
            <a:r>
              <a:rPr lang="en-IN" sz="3200" b="1" dirty="0" err="1">
                <a:solidFill>
                  <a:srgbClr val="0070C0"/>
                </a:solidFill>
              </a:rPr>
              <a:t>Goerdeler</a:t>
            </a:r>
            <a:r>
              <a:rPr lang="en-IN" sz="3200" b="1" dirty="0">
                <a:solidFill>
                  <a:srgbClr val="0070C0"/>
                </a:solidFill>
              </a:rPr>
              <a:t> - KPMG</a:t>
            </a:r>
            <a:endParaRPr lang="en-US" sz="4000" b="1" dirty="0">
              <a:solidFill>
                <a:srgbClr val="0070C0"/>
              </a:solidFill>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38882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
        <p:nvSpPr>
          <p:cNvPr id="6" name="Rectangle 5"/>
          <p:cNvSpPr/>
          <p:nvPr/>
        </p:nvSpPr>
        <p:spPr>
          <a:xfrm>
            <a:off x="329938" y="320457"/>
            <a:ext cx="11274458" cy="5786199"/>
          </a:xfrm>
          <a:prstGeom prst="rect">
            <a:avLst/>
          </a:prstGeom>
        </p:spPr>
        <p:txBody>
          <a:bodyPr wrap="square">
            <a:spAutoFit/>
          </a:bodyPr>
          <a:lstStyle/>
          <a:p>
            <a:r>
              <a:rPr lang="en-IN" sz="2800" b="1" dirty="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rPr>
              <a:t>Assigned Domain and Technology</a:t>
            </a:r>
          </a:p>
          <a:p>
            <a:endParaRPr lang="en-IN" b="1" dirty="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internship was carried out in the domain of </a:t>
            </a:r>
            <a:r>
              <a:rPr lang="en-US" sz="2400" b="1" dirty="0">
                <a:latin typeface="Times New Roman" panose="02020603050405020304" pitchFamily="18" charset="0"/>
                <a:cs typeface="Times New Roman" panose="02020603050405020304" pitchFamily="18" charset="0"/>
              </a:rPr>
              <a:t>Cybersecurity — specifically Penetration Testing (MAST)</a:t>
            </a:r>
            <a:r>
              <a:rPr lang="en-US"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primary focus was on identifying, exploiting, and reporting vulnerabilities in web applications and systems using industry-standard methodologies.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Work involved both </a:t>
            </a:r>
            <a:r>
              <a:rPr lang="en-US" sz="2400" b="1" dirty="0">
                <a:latin typeface="Times New Roman" panose="02020603050405020304" pitchFamily="18" charset="0"/>
                <a:cs typeface="Times New Roman" panose="02020603050405020304" pitchFamily="18" charset="0"/>
              </a:rPr>
              <a:t>Offensive Security practices and Defensive Analysis</a:t>
            </a:r>
            <a:r>
              <a:rPr lang="en-US" sz="2400" dirty="0">
                <a:latin typeface="Times New Roman" panose="02020603050405020304" pitchFamily="18" charset="0"/>
                <a:cs typeface="Times New Roman" panose="02020603050405020304" pitchFamily="18" charset="0"/>
              </a:rPr>
              <a:t>, including vulnerability assessment, exploitation techniques, secure coding review.</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Hands-on tasks included testing vulnerable platforms such as demo banking applications and Capture-The-Flag (CTF) environments. Key technologies and tools used included Burp Suite, OWASP </a:t>
            </a:r>
            <a:r>
              <a:rPr lang="en-US" sz="2400" dirty="0" smtClean="0">
                <a:latin typeface="Times New Roman" panose="02020603050405020304" pitchFamily="18" charset="0"/>
                <a:cs typeface="Times New Roman" panose="02020603050405020304" pitchFamily="18" charset="0"/>
              </a:rPr>
              <a:t>methodologies.</a:t>
            </a:r>
          </a:p>
          <a:p>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domain is critical because organizations rely on penetration testing to identify weaknesses before attackers exploit them, ensuring confidentiality, integrity, and availability of systems.</a:t>
            </a:r>
          </a:p>
          <a:p>
            <a:endParaRPr lang="en-IN" dirty="0">
              <a:latin typeface="Times New Roman" panose="02020603050405020304" pitchFamily="18" charset="0"/>
              <a:ea typeface="Tahoma" panose="020B0604030504040204" pitchFamily="34" charset="0"/>
              <a:cs typeface="Times New Roman" panose="02020603050405020304" pitchFamily="18" charset="0"/>
            </a:endParaRPr>
          </a:p>
          <a:p>
            <a:endParaRPr lang="en-US"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6586821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262" y="178173"/>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About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2805" y="1429463"/>
            <a:ext cx="11679810" cy="4141777"/>
          </a:xfrm>
        </p:spPr>
        <p:txBody>
          <a:bodyPr>
            <a:normAutofit/>
          </a:bodyPr>
          <a:lstStyle/>
          <a:p>
            <a:pPr marL="342900" indent="-342900"/>
            <a:r>
              <a:rPr lang="en-US" sz="2400" dirty="0">
                <a:latin typeface="Times New Roman" panose="02020603050405020304" pitchFamily="18" charset="0"/>
                <a:cs typeface="Times New Roman" panose="02020603050405020304" pitchFamily="18" charset="0"/>
              </a:rPr>
              <a:t>I worked under the </a:t>
            </a:r>
            <a:r>
              <a:rPr lang="en-US" sz="2400" b="1" dirty="0">
                <a:latin typeface="Times New Roman" panose="02020603050405020304" pitchFamily="18" charset="0"/>
                <a:cs typeface="Times New Roman" panose="02020603050405020304" pitchFamily="18" charset="0"/>
              </a:rPr>
              <a:t>Cyber Managed Services — Penetration Testing (MAST) team</a:t>
            </a:r>
            <a:r>
              <a:rPr lang="en-US" sz="2400" dirty="0">
                <a:latin typeface="Times New Roman" panose="02020603050405020304" pitchFamily="18" charset="0"/>
                <a:cs typeface="Times New Roman" panose="02020603050405020304" pitchFamily="18" charset="0"/>
              </a:rPr>
              <a:t>, which focuses on performing security assessments for client systems.</a:t>
            </a:r>
          </a:p>
          <a:p>
            <a:pPr marL="342900" indent="-342900"/>
            <a:r>
              <a:rPr lang="en-US" sz="2400" dirty="0">
                <a:latin typeface="Times New Roman" panose="02020603050405020304" pitchFamily="18" charset="0"/>
                <a:cs typeface="Times New Roman" panose="02020603050405020304" pitchFamily="18" charset="0"/>
              </a:rPr>
              <a:t>The team structure included experienced </a:t>
            </a:r>
            <a:r>
              <a:rPr lang="en-US" sz="2400" dirty="0" smtClean="0">
                <a:latin typeface="Times New Roman" panose="02020603050405020304" pitchFamily="18" charset="0"/>
                <a:cs typeface="Times New Roman" panose="02020603050405020304" pitchFamily="18" charset="0"/>
              </a:rPr>
              <a:t>analysts</a:t>
            </a:r>
            <a:r>
              <a:rPr lang="en-US" sz="2400" dirty="0">
                <a:latin typeface="Times New Roman" panose="02020603050405020304" pitchFamily="18" charset="0"/>
                <a:cs typeface="Times New Roman" panose="02020603050405020304" pitchFamily="18" charset="0"/>
              </a:rPr>
              <a:t>, mentors, and interns working collaboratively. Tasks were distributed across areas such as vulnerability discovery, exploitation validation, documentation, and reporting.</a:t>
            </a:r>
          </a:p>
          <a:p>
            <a:pPr marL="342900" indent="-342900"/>
            <a:r>
              <a:rPr lang="en-US" sz="2400" dirty="0">
                <a:latin typeface="Times New Roman" panose="02020603050405020304" pitchFamily="18" charset="0"/>
                <a:cs typeface="Times New Roman" panose="02020603050405020304" pitchFamily="18" charset="0"/>
              </a:rPr>
              <a:t>During the internship, I collaborated with teammates to analyze vulnerable environments, validate attack scenarios, and prepare structured VAPT reports.</a:t>
            </a:r>
          </a:p>
          <a:p>
            <a:pPr marL="342900" indent="-342900"/>
            <a:r>
              <a:rPr lang="en-US" sz="2400" dirty="0">
                <a:latin typeface="Times New Roman" panose="02020603050405020304" pitchFamily="18" charset="0"/>
                <a:cs typeface="Times New Roman" panose="02020603050405020304" pitchFamily="18" charset="0"/>
              </a:rPr>
              <a:t>Regular guidance was provided by the reporting manager and mentors, ensuring adherence to professional testing methodologies and industry standards</a:t>
            </a:r>
            <a:r>
              <a:rPr lang="en-US" sz="2400" dirty="0"/>
              <a: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0696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181" y="280284"/>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56181" y="1184366"/>
            <a:ext cx="11057641" cy="4575411"/>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Adapting to the cybersecurity domain initially required understanding complex concepts such as attack vectors, exploitation techniques, and security tools.</a:t>
            </a:r>
          </a:p>
          <a:p>
            <a:pPr marL="0" indent="0">
              <a:buNone/>
            </a:pPr>
            <a:r>
              <a:rPr lang="en-US" sz="2400" dirty="0">
                <a:latin typeface="Times New Roman" panose="02020603050405020304" pitchFamily="18" charset="0"/>
                <a:cs typeface="Times New Roman" panose="02020603050405020304" pitchFamily="18" charset="0"/>
              </a:rPr>
              <a:t>Some key challenges included:</a:t>
            </a:r>
          </a:p>
          <a:p>
            <a:r>
              <a:rPr lang="en-US" sz="2400" dirty="0">
                <a:latin typeface="Times New Roman" panose="02020603050405020304" pitchFamily="18" charset="0"/>
                <a:cs typeface="Times New Roman" panose="02020603050405020304" pitchFamily="18" charset="0"/>
              </a:rPr>
              <a:t>Learning professional penetration testing workflows</a:t>
            </a:r>
          </a:p>
          <a:p>
            <a:r>
              <a:rPr lang="en-US" sz="2400" dirty="0">
                <a:latin typeface="Times New Roman" panose="02020603050405020304" pitchFamily="18" charset="0"/>
                <a:cs typeface="Times New Roman" panose="02020603050405020304" pitchFamily="18" charset="0"/>
              </a:rPr>
              <a:t>Understanding real-world vulnerabilities beyond theoretical knowledge</a:t>
            </a:r>
          </a:p>
          <a:p>
            <a:r>
              <a:rPr lang="en-US" sz="2400" dirty="0">
                <a:latin typeface="Times New Roman" panose="02020603050405020304" pitchFamily="18" charset="0"/>
                <a:cs typeface="Times New Roman" panose="02020603050405020304" pitchFamily="18" charset="0"/>
              </a:rPr>
              <a:t>Configuring testing environments and tools correctly</a:t>
            </a:r>
          </a:p>
          <a:p>
            <a:r>
              <a:rPr lang="en-US" sz="2400" dirty="0">
                <a:latin typeface="Times New Roman" panose="02020603050405020304" pitchFamily="18" charset="0"/>
                <a:cs typeface="Times New Roman" panose="02020603050405020304" pitchFamily="18" charset="0"/>
              </a:rPr>
              <a:t>Interpreting source code to identify security flaws</a:t>
            </a:r>
          </a:p>
          <a:p>
            <a:r>
              <a:rPr lang="en-US" sz="2400" dirty="0">
                <a:latin typeface="Times New Roman" panose="02020603050405020304" pitchFamily="18" charset="0"/>
                <a:cs typeface="Times New Roman" panose="02020603050405020304" pitchFamily="18" charset="0"/>
              </a:rPr>
              <a:t>Managing time while working on multiple tasks simultaneously</a:t>
            </a:r>
          </a:p>
          <a:p>
            <a:r>
              <a:rPr lang="en-US" sz="2400" dirty="0">
                <a:latin typeface="Times New Roman" panose="02020603050405020304" pitchFamily="18" charset="0"/>
                <a:cs typeface="Times New Roman" panose="02020603050405020304" pitchFamily="18" charset="0"/>
              </a:rPr>
              <a:t>Communicating technical findings clearly in reports</a:t>
            </a:r>
          </a:p>
          <a:p>
            <a:r>
              <a:rPr lang="en-US" sz="2400" dirty="0">
                <a:latin typeface="Times New Roman" panose="02020603050405020304" pitchFamily="18" charset="0"/>
                <a:cs typeface="Times New Roman" panose="02020603050405020304" pitchFamily="18" charset="0"/>
              </a:rPr>
              <a:t>These challenges were gradually overcome through continuous practice, team support, and hands-on experimentation.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1206156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8317"/>
            <a:ext cx="10515600" cy="4058194"/>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main objectives of the internship work were:</a:t>
            </a:r>
          </a:p>
          <a:p>
            <a:r>
              <a:rPr lang="en-US" sz="2400" dirty="0">
                <a:latin typeface="Times New Roman" panose="02020603050405020304" pitchFamily="18" charset="0"/>
                <a:cs typeface="Times New Roman" panose="02020603050405020304" pitchFamily="18" charset="0"/>
              </a:rPr>
              <a:t>To gain practical exposure to real-world cybersecurity operations</a:t>
            </a:r>
          </a:p>
          <a:p>
            <a:r>
              <a:rPr lang="en-US" sz="2400" dirty="0">
                <a:latin typeface="Times New Roman" panose="02020603050405020304" pitchFamily="18" charset="0"/>
                <a:cs typeface="Times New Roman" panose="02020603050405020304" pitchFamily="18" charset="0"/>
              </a:rPr>
              <a:t>To understand penetration testing methodologies</a:t>
            </a:r>
          </a:p>
          <a:p>
            <a:r>
              <a:rPr lang="en-US" sz="2400" dirty="0">
                <a:latin typeface="Times New Roman" panose="02020603050405020304" pitchFamily="18" charset="0"/>
                <a:cs typeface="Times New Roman" panose="02020603050405020304" pitchFamily="18" charset="0"/>
              </a:rPr>
              <a:t>To identify and exploit common web application vulnerabilities</a:t>
            </a:r>
          </a:p>
          <a:p>
            <a:r>
              <a:rPr lang="en-US" sz="2400" dirty="0">
                <a:latin typeface="Times New Roman" panose="02020603050405020304" pitchFamily="18" charset="0"/>
                <a:cs typeface="Times New Roman" panose="02020603050405020304" pitchFamily="18" charset="0"/>
              </a:rPr>
              <a:t>To perform source code security analysis</a:t>
            </a:r>
          </a:p>
          <a:p>
            <a:r>
              <a:rPr lang="en-US" sz="2400" dirty="0">
                <a:latin typeface="Times New Roman" panose="02020603050405020304" pitchFamily="18" charset="0"/>
                <a:cs typeface="Times New Roman" panose="02020603050405020304" pitchFamily="18" charset="0"/>
              </a:rPr>
              <a:t>To document findings in a professional VAPT report format</a:t>
            </a:r>
          </a:p>
          <a:p>
            <a:r>
              <a:rPr lang="en-US" sz="2400" dirty="0">
                <a:latin typeface="Times New Roman" panose="02020603050405020304" pitchFamily="18" charset="0"/>
                <a:cs typeface="Times New Roman" panose="02020603050405020304" pitchFamily="18" charset="0"/>
              </a:rPr>
              <a:t>To recommend remediation strategies for secure development</a:t>
            </a:r>
          </a:p>
          <a:p>
            <a:pPr marL="0" indent="0">
              <a:buNone/>
            </a:pPr>
            <a:r>
              <a:rPr lang="en-US" sz="2400" dirty="0">
                <a:latin typeface="Times New Roman" panose="02020603050405020304" pitchFamily="18" charset="0"/>
                <a:cs typeface="Times New Roman" panose="02020603050405020304" pitchFamily="18" charset="0"/>
              </a:rPr>
              <a:t>The work aimed to bridge the gap between academic knowledge and industry practices.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2516334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651" y="217852"/>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471340" y="1184366"/>
            <a:ext cx="10882460" cy="4415155"/>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work was supported by studying established cybersecurity frameworks, research materials, and industry resources.</a:t>
            </a:r>
          </a:p>
          <a:p>
            <a:pPr marL="0" indent="0">
              <a:buNone/>
            </a:pPr>
            <a:r>
              <a:rPr lang="en-US" sz="2400" dirty="0">
                <a:latin typeface="Times New Roman" panose="02020603050405020304" pitchFamily="18" charset="0"/>
                <a:cs typeface="Times New Roman" panose="02020603050405020304" pitchFamily="18" charset="0"/>
              </a:rPr>
              <a:t>Key references included:</a:t>
            </a:r>
          </a:p>
          <a:p>
            <a:r>
              <a:rPr lang="en-US" sz="2400" dirty="0">
                <a:latin typeface="Times New Roman" panose="02020603050405020304" pitchFamily="18" charset="0"/>
                <a:cs typeface="Times New Roman" panose="02020603050405020304" pitchFamily="18" charset="0"/>
              </a:rPr>
              <a:t>OWASP Top 10 vulnerabilities</a:t>
            </a:r>
          </a:p>
          <a:p>
            <a:r>
              <a:rPr lang="en-US" sz="2400" dirty="0">
                <a:latin typeface="Times New Roman" panose="02020603050405020304" pitchFamily="18" charset="0"/>
                <a:cs typeface="Times New Roman" panose="02020603050405020304" pitchFamily="18" charset="0"/>
              </a:rPr>
              <a:t>Secure coding guidelines</a:t>
            </a:r>
          </a:p>
          <a:p>
            <a:r>
              <a:rPr lang="en-US" sz="2400" dirty="0">
                <a:latin typeface="Times New Roman" panose="02020603050405020304" pitchFamily="18" charset="0"/>
                <a:cs typeface="Times New Roman" panose="02020603050405020304" pitchFamily="18" charset="0"/>
              </a:rPr>
              <a:t>Penetration testing methodologies</a:t>
            </a:r>
          </a:p>
          <a:p>
            <a:pPr marL="0" indent="0">
              <a:buNone/>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literature emphasized that most security breaches occur due to misconfigurations, weak authentication mechanisms, improper input validation, and insecure file handling — all of which were explored during the internship.</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972927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4505" y="217852"/>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Proposed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34505" y="1184366"/>
            <a:ext cx="10619295" cy="4509423"/>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proposed work involved performing a structured security assessment of vulnerable systems using a controlled testing environment.</a:t>
            </a:r>
          </a:p>
          <a:p>
            <a:pPr marL="0" indent="0">
              <a:buNone/>
            </a:pPr>
            <a:r>
              <a:rPr lang="en-US" sz="2400" dirty="0">
                <a:latin typeface="Times New Roman" panose="02020603050405020304" pitchFamily="18" charset="0"/>
                <a:cs typeface="Times New Roman" panose="02020603050405020304" pitchFamily="18" charset="0"/>
              </a:rPr>
              <a:t>Activities included:</a:t>
            </a:r>
          </a:p>
          <a:p>
            <a:r>
              <a:rPr lang="en-US" sz="2400" dirty="0">
                <a:latin typeface="Times New Roman" panose="02020603050405020304" pitchFamily="18" charset="0"/>
                <a:cs typeface="Times New Roman" panose="02020603050405020304" pitchFamily="18" charset="0"/>
              </a:rPr>
              <a:t>Testing a deliberately vulnerable banking website (</a:t>
            </a:r>
            <a:r>
              <a:rPr lang="en-US" sz="2400" dirty="0" err="1">
                <a:latin typeface="Times New Roman" panose="02020603050405020304" pitchFamily="18" charset="0"/>
                <a:cs typeface="Times New Roman" panose="02020603050405020304" pitchFamily="18" charset="0"/>
              </a:rPr>
              <a:t>demo.testfire</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Solving cybersecurity challenges in a CTF platform (</a:t>
            </a:r>
            <a:r>
              <a:rPr lang="en-US" sz="2400" dirty="0" err="1">
                <a:latin typeface="Times New Roman" panose="02020603050405020304" pitchFamily="18" charset="0"/>
                <a:cs typeface="Times New Roman" panose="02020603050405020304" pitchFamily="18" charset="0"/>
              </a:rPr>
              <a:t>TryHackMe</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Conducting source code review to identify insecure coding practices</a:t>
            </a:r>
          </a:p>
          <a:p>
            <a:r>
              <a:rPr lang="en-US" sz="2400" dirty="0">
                <a:latin typeface="Times New Roman" panose="02020603050405020304" pitchFamily="18" charset="0"/>
                <a:cs typeface="Times New Roman" panose="02020603050405020304" pitchFamily="18" charset="0"/>
              </a:rPr>
              <a:t>Simulating real attack techniques such as credential harvesting and command injection</a:t>
            </a:r>
          </a:p>
          <a:p>
            <a:r>
              <a:rPr lang="en-US" sz="2400" dirty="0">
                <a:latin typeface="Times New Roman" panose="02020603050405020304" pitchFamily="18" charset="0"/>
                <a:cs typeface="Times New Roman" panose="02020603050405020304" pitchFamily="18" charset="0"/>
              </a:rPr>
              <a:t>Preparing a comprehensive VAPT report</a:t>
            </a:r>
          </a:p>
          <a:p>
            <a:pPr marL="0" indent="0">
              <a:buNone/>
            </a:pPr>
            <a:r>
              <a:rPr lang="en-US" sz="2400" dirty="0">
                <a:latin typeface="Times New Roman" panose="02020603050405020304" pitchFamily="18" charset="0"/>
                <a:cs typeface="Times New Roman" panose="02020603050405020304" pitchFamily="18" charset="0"/>
              </a:rPr>
              <a:t>The approach followed ethical hacking principles and focused on identifying vulnerabilities before they could be exploited in real scenarios.</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35524770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236" y="434916"/>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
        <p:nvSpPr>
          <p:cNvPr id="5" name="Rectangle 1"/>
          <p:cNvSpPr>
            <a:spLocks noGrp="1" noChangeArrowheads="1"/>
          </p:cNvSpPr>
          <p:nvPr>
            <p:ph idx="1"/>
          </p:nvPr>
        </p:nvSpPr>
        <p:spPr bwMode="auto">
          <a:xfrm>
            <a:off x="486068" y="1682778"/>
            <a:ext cx="11165462" cy="354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n-US" sz="2400" dirty="0">
                <a:latin typeface="Times New Roman" panose="02020603050405020304" pitchFamily="18" charset="0"/>
                <a:cs typeface="Times New Roman" panose="02020603050405020304" pitchFamily="18" charset="0"/>
              </a:rPr>
              <a:t>Modern web applications and systems often contain security vulnerabilities due to insecure coding practices, improper configurations, and insufficient security testing. These weaknesses can be exploited by attackers to gain unauthorized access, steal sensitive data, execute malicious commands, or disrupt services.</a:t>
            </a:r>
          </a:p>
          <a:p>
            <a:pPr>
              <a:lnSpc>
                <a:spcPct val="100000"/>
              </a:lnSpc>
            </a:pPr>
            <a:r>
              <a:rPr lang="en-US" sz="2400" dirty="0">
                <a:latin typeface="Times New Roman" panose="02020603050405020304" pitchFamily="18" charset="0"/>
                <a:cs typeface="Times New Roman" panose="02020603050405020304" pitchFamily="18" charset="0"/>
              </a:rPr>
              <a:t>The objective of this work is to identify, analyze, and validate such vulnerabilities through structured penetration testing on controlled environments, including vulnerable web applications and CTF platforms. The study focuses on real attack scenarios such as credential harvesting, file upload exploitation, command injection, and password cracking, followed by recommending effective mitigation strategies.</a:t>
            </a:r>
          </a:p>
        </p:txBody>
      </p:sp>
    </p:spTree>
    <p:extLst>
      <p:ext uri="{BB962C8B-B14F-4D97-AF65-F5344CB8AC3E}">
        <p14:creationId xmlns:p14="http://schemas.microsoft.com/office/powerpoint/2010/main" val="4505980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982" y="228601"/>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521616" y="1184367"/>
            <a:ext cx="11670384" cy="5673633"/>
          </a:xfrm>
        </p:spPr>
        <p:txBody>
          <a:bodyPr>
            <a:noAutofit/>
          </a:bodyPr>
          <a:lstStyle/>
          <a:p>
            <a:pPr marL="0" indent="0">
              <a:buNone/>
            </a:pPr>
            <a:r>
              <a:rPr lang="en-IN" sz="2000" b="1" dirty="0">
                <a:latin typeface="Times New Roman" panose="02020603050405020304" pitchFamily="18" charset="0"/>
                <a:cs typeface="Times New Roman" panose="02020603050405020304" pitchFamily="18" charset="0"/>
              </a:rPr>
              <a:t>Hardware Requirements</a:t>
            </a:r>
          </a:p>
          <a:p>
            <a:r>
              <a:rPr lang="en-IN" sz="2000" dirty="0">
                <a:latin typeface="Times New Roman" panose="02020603050405020304" pitchFamily="18" charset="0"/>
                <a:cs typeface="Times New Roman" panose="02020603050405020304" pitchFamily="18" charset="0"/>
              </a:rPr>
              <a:t>Personal computer with internet connectivity</a:t>
            </a:r>
          </a:p>
          <a:p>
            <a:r>
              <a:rPr lang="en-IN" sz="2000" dirty="0">
                <a:latin typeface="Times New Roman" panose="02020603050405020304" pitchFamily="18" charset="0"/>
                <a:cs typeface="Times New Roman" panose="02020603050405020304" pitchFamily="18" charset="0"/>
              </a:rPr>
              <a:t>Minimum 8 GB RAM recommended</a:t>
            </a:r>
          </a:p>
          <a:p>
            <a:r>
              <a:rPr lang="en-IN" sz="2000" dirty="0">
                <a:latin typeface="Times New Roman" panose="02020603050405020304" pitchFamily="18" charset="0"/>
                <a:cs typeface="Times New Roman" panose="02020603050405020304" pitchFamily="18" charset="0"/>
              </a:rPr>
              <a:t>Processor capable of running virtual labs and tools</a:t>
            </a:r>
          </a:p>
          <a:p>
            <a:pPr marL="0" indent="0">
              <a:buNone/>
            </a:pPr>
            <a:r>
              <a:rPr lang="en-IN" sz="2000" b="1" dirty="0">
                <a:latin typeface="Times New Roman" panose="02020603050405020304" pitchFamily="18" charset="0"/>
                <a:cs typeface="Times New Roman" panose="02020603050405020304" pitchFamily="18" charset="0"/>
              </a:rPr>
              <a:t>Software Requirements</a:t>
            </a:r>
          </a:p>
          <a:p>
            <a:r>
              <a:rPr lang="en-IN" sz="2000" dirty="0">
                <a:latin typeface="Times New Roman" panose="02020603050405020304" pitchFamily="18" charset="0"/>
                <a:cs typeface="Times New Roman" panose="02020603050405020304" pitchFamily="18" charset="0"/>
              </a:rPr>
              <a:t>Web browser (Chrome/Firefox)</a:t>
            </a:r>
          </a:p>
          <a:p>
            <a:r>
              <a:rPr lang="en-IN" sz="2000" dirty="0">
                <a:latin typeface="Times New Roman" panose="02020603050405020304" pitchFamily="18" charset="0"/>
                <a:cs typeface="Times New Roman" panose="02020603050405020304" pitchFamily="18" charset="0"/>
              </a:rPr>
              <a:t>Penetration testing tools (Burp Suite, etc.)</a:t>
            </a:r>
          </a:p>
          <a:p>
            <a:r>
              <a:rPr lang="en-IN" sz="2000" dirty="0" smtClean="0">
                <a:latin typeface="Times New Roman" panose="02020603050405020304" pitchFamily="18" charset="0"/>
                <a:cs typeface="Times New Roman" panose="02020603050405020304" pitchFamily="18" charset="0"/>
              </a:rPr>
              <a:t>Access </a:t>
            </a:r>
            <a:r>
              <a:rPr lang="en-IN" sz="2000" dirty="0">
                <a:latin typeface="Times New Roman" panose="02020603050405020304" pitchFamily="18" charset="0"/>
                <a:cs typeface="Times New Roman" panose="02020603050405020304" pitchFamily="18" charset="0"/>
              </a:rPr>
              <a:t>to vulnerable platforms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Code </a:t>
            </a:r>
            <a:r>
              <a:rPr lang="en-IN" sz="2000" dirty="0">
                <a:latin typeface="Times New Roman" panose="02020603050405020304" pitchFamily="18" charset="0"/>
                <a:cs typeface="Times New Roman" panose="02020603050405020304" pitchFamily="18" charset="0"/>
              </a:rPr>
              <a:t>editor for source review</a:t>
            </a:r>
          </a:p>
          <a:p>
            <a:pPr marL="0" indent="0">
              <a:buNone/>
            </a:pPr>
            <a:r>
              <a:rPr lang="en-IN" sz="2000" b="1" dirty="0">
                <a:latin typeface="Times New Roman" panose="02020603050405020304" pitchFamily="18" charset="0"/>
                <a:cs typeface="Times New Roman" panose="02020603050405020304" pitchFamily="18" charset="0"/>
              </a:rPr>
              <a:t>Network Requirements</a:t>
            </a:r>
          </a:p>
          <a:p>
            <a:r>
              <a:rPr lang="en-IN" sz="2000" dirty="0">
                <a:latin typeface="Times New Roman" panose="02020603050405020304" pitchFamily="18" charset="0"/>
                <a:cs typeface="Times New Roman" panose="02020603050405020304" pitchFamily="18" charset="0"/>
              </a:rPr>
              <a:t>Stable internet connection</a:t>
            </a:r>
          </a:p>
          <a:p>
            <a:r>
              <a:rPr lang="en-IN" sz="2000" dirty="0">
                <a:latin typeface="Times New Roman" panose="02020603050405020304" pitchFamily="18" charset="0"/>
                <a:cs typeface="Times New Roman" panose="02020603050405020304" pitchFamily="18" charset="0"/>
              </a:rPr>
              <a:t>Access to controlled testing environments</a:t>
            </a: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31286960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a:t>
            </a: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72212" y="1467172"/>
            <a:ext cx="10515600" cy="4058194"/>
          </a:xfrm>
        </p:spPr>
        <p:txBody>
          <a:bodyPr>
            <a:normAutofit/>
          </a:bodyPr>
          <a:lstStyle/>
          <a:p>
            <a:r>
              <a:rPr lang="en-US" sz="2400" dirty="0">
                <a:latin typeface="Times New Roman" panose="02020603050405020304" pitchFamily="18" charset="0"/>
                <a:cs typeface="Times New Roman" panose="02020603050405020304" pitchFamily="18" charset="0"/>
              </a:rPr>
              <a:t>Provides real-world cybersecurity exposure</a:t>
            </a:r>
          </a:p>
          <a:p>
            <a:r>
              <a:rPr lang="en-US" sz="2400" dirty="0">
                <a:latin typeface="Times New Roman" panose="02020603050405020304" pitchFamily="18" charset="0"/>
                <a:cs typeface="Times New Roman" panose="02020603050405020304" pitchFamily="18" charset="0"/>
              </a:rPr>
              <a:t>Improves practical penetration testing skills</a:t>
            </a:r>
          </a:p>
          <a:p>
            <a:r>
              <a:rPr lang="en-US" sz="2400" dirty="0">
                <a:latin typeface="Times New Roman" panose="02020603050405020304" pitchFamily="18" charset="0"/>
                <a:cs typeface="Times New Roman" panose="02020603050405020304" pitchFamily="18" charset="0"/>
              </a:rPr>
              <a:t>Helps understand attacker mindset</a:t>
            </a:r>
          </a:p>
          <a:p>
            <a:r>
              <a:rPr lang="en-US" sz="2400" dirty="0">
                <a:latin typeface="Times New Roman" panose="02020603050405020304" pitchFamily="18" charset="0"/>
                <a:cs typeface="Times New Roman" panose="02020603050405020304" pitchFamily="18" charset="0"/>
              </a:rPr>
              <a:t>Enhances secure coding awareness</a:t>
            </a:r>
          </a:p>
          <a:p>
            <a:r>
              <a:rPr lang="en-US" sz="2400" dirty="0">
                <a:latin typeface="Times New Roman" panose="02020603050405020304" pitchFamily="18" charset="0"/>
                <a:cs typeface="Times New Roman" panose="02020603050405020304" pitchFamily="18" charset="0"/>
              </a:rPr>
              <a:t>Develops professional reporting abilities</a:t>
            </a:r>
          </a:p>
          <a:p>
            <a:r>
              <a:rPr lang="en-US" sz="2400" dirty="0">
                <a:latin typeface="Times New Roman" panose="02020603050405020304" pitchFamily="18" charset="0"/>
                <a:cs typeface="Times New Roman" panose="02020603050405020304" pitchFamily="18" charset="0"/>
              </a:rPr>
              <a:t>Prepares for roles in cybersecurity and ethical hacking</a:t>
            </a:r>
          </a:p>
          <a:p>
            <a:pPr marL="0" indent="0">
              <a:buNone/>
            </a:pPr>
            <a:r>
              <a:rPr lang="en-US" sz="2400" dirty="0">
                <a:latin typeface="Times New Roman" panose="02020603050405020304" pitchFamily="18" charset="0"/>
                <a:cs typeface="Times New Roman" panose="02020603050405020304" pitchFamily="18" charset="0"/>
              </a:rPr>
              <a:t>Organizations benefit by proactively identifying weaknesses before malicious actors exploit them.</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Tree>
    <p:extLst>
      <p:ext uri="{BB962C8B-B14F-4D97-AF65-F5344CB8AC3E}">
        <p14:creationId xmlns:p14="http://schemas.microsoft.com/office/powerpoint/2010/main" val="22466521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Design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5713" y="1627427"/>
            <a:ext cx="7598790" cy="396266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work followed a structured penetration testing lifecycle:</a:t>
            </a:r>
          </a:p>
          <a:p>
            <a:r>
              <a:rPr lang="en-US" sz="2400" dirty="0">
                <a:latin typeface="Times New Roman" panose="02020603050405020304" pitchFamily="18" charset="0"/>
                <a:cs typeface="Times New Roman" panose="02020603050405020304" pitchFamily="18" charset="0"/>
              </a:rPr>
              <a:t>Reconnaissance — understanding the target system</a:t>
            </a:r>
          </a:p>
          <a:p>
            <a:r>
              <a:rPr lang="en-US" sz="2400" dirty="0">
                <a:latin typeface="Times New Roman" panose="02020603050405020304" pitchFamily="18" charset="0"/>
                <a:cs typeface="Times New Roman" panose="02020603050405020304" pitchFamily="18" charset="0"/>
              </a:rPr>
              <a:t>Vulnerability Identification — discovering weaknesses</a:t>
            </a:r>
          </a:p>
          <a:p>
            <a:r>
              <a:rPr lang="en-US" sz="2400" dirty="0">
                <a:latin typeface="Times New Roman" panose="02020603050405020304" pitchFamily="18" charset="0"/>
                <a:cs typeface="Times New Roman" panose="02020603050405020304" pitchFamily="18" charset="0"/>
              </a:rPr>
              <a:t>Exploitation — validating vulnerabilities safely</a:t>
            </a:r>
          </a:p>
          <a:p>
            <a:r>
              <a:rPr lang="en-US" sz="2400" dirty="0">
                <a:latin typeface="Times New Roman" panose="02020603050405020304" pitchFamily="18" charset="0"/>
                <a:cs typeface="Times New Roman" panose="02020603050405020304" pitchFamily="18" charset="0"/>
              </a:rPr>
              <a:t>Analysis — assessing impact and risk</a:t>
            </a:r>
          </a:p>
          <a:p>
            <a:r>
              <a:rPr lang="en-US" sz="2400" dirty="0">
                <a:latin typeface="Times New Roman" panose="02020603050405020304" pitchFamily="18" charset="0"/>
                <a:cs typeface="Times New Roman" panose="02020603050405020304" pitchFamily="18" charset="0"/>
              </a:rPr>
              <a:t>Reporting — documenting findings and recommendations</a:t>
            </a:r>
          </a:p>
          <a:p>
            <a:pPr marL="0" indent="0">
              <a:buNone/>
            </a:pPr>
            <a:r>
              <a:rPr lang="en-US" sz="2400" dirty="0">
                <a:latin typeface="Times New Roman" panose="02020603050405020304" pitchFamily="18" charset="0"/>
                <a:cs typeface="Times New Roman" panose="02020603050405020304" pitchFamily="18" charset="0"/>
              </a:rPr>
              <a:t>Multiple testing scenarios were designed using vulnerable platforms to simulate real-world attacks in a controlled manner.</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pic>
        <p:nvPicPr>
          <p:cNvPr id="2052" name="Picture 4" descr="The Ultimate Guide To Penetration Tes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4503" y="1856998"/>
            <a:ext cx="4186908" cy="3073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4325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786" y="299137"/>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6"/>
            <a:ext cx="10515600" cy="451884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Significant implementation work was completed, including:</a:t>
            </a:r>
          </a:p>
          <a:p>
            <a:r>
              <a:rPr lang="en-US" sz="2400" dirty="0">
                <a:latin typeface="Times New Roman" panose="02020603050405020304" pitchFamily="18" charset="0"/>
                <a:cs typeface="Times New Roman" panose="02020603050405020304" pitchFamily="18" charset="0"/>
              </a:rPr>
              <a:t>Exploiting vulnerabilities in the demo banking website</a:t>
            </a:r>
          </a:p>
          <a:p>
            <a:r>
              <a:rPr lang="en-US" sz="2400" dirty="0">
                <a:latin typeface="Times New Roman" panose="02020603050405020304" pitchFamily="18" charset="0"/>
                <a:cs typeface="Times New Roman" panose="02020603050405020304" pitchFamily="18" charset="0"/>
              </a:rPr>
              <a:t>Completing CTF challenges involving web attacks and password cracking</a:t>
            </a:r>
          </a:p>
          <a:p>
            <a:r>
              <a:rPr lang="en-US" sz="2400" dirty="0">
                <a:latin typeface="Times New Roman" panose="02020603050405020304" pitchFamily="18" charset="0"/>
                <a:cs typeface="Times New Roman" panose="02020603050405020304" pitchFamily="18" charset="0"/>
              </a:rPr>
              <a:t>Performing offline credential harvesting simulations</a:t>
            </a:r>
          </a:p>
          <a:p>
            <a:r>
              <a:rPr lang="en-US" sz="2400" dirty="0">
                <a:latin typeface="Times New Roman" panose="02020603050405020304" pitchFamily="18" charset="0"/>
                <a:cs typeface="Times New Roman" panose="02020603050405020304" pitchFamily="18" charset="0"/>
              </a:rPr>
              <a:t>Testing file upload functionality for malicious file execution</a:t>
            </a:r>
          </a:p>
          <a:p>
            <a:r>
              <a:rPr lang="en-US" sz="2400" dirty="0">
                <a:latin typeface="Times New Roman" panose="02020603050405020304" pitchFamily="18" charset="0"/>
                <a:cs typeface="Times New Roman" panose="02020603050405020304" pitchFamily="18" charset="0"/>
              </a:rPr>
              <a:t>Demonstrating command injection vulnerabilities</a:t>
            </a:r>
          </a:p>
          <a:p>
            <a:r>
              <a:rPr lang="en-US" sz="2400" dirty="0">
                <a:latin typeface="Times New Roman" panose="02020603050405020304" pitchFamily="18" charset="0"/>
                <a:cs typeface="Times New Roman" panose="02020603050405020304" pitchFamily="18" charset="0"/>
              </a:rPr>
              <a:t>Using John the Ripper to crack password hashes</a:t>
            </a:r>
          </a:p>
          <a:p>
            <a:r>
              <a:rPr lang="en-US" sz="2400" dirty="0">
                <a:latin typeface="Times New Roman" panose="02020603050405020304" pitchFamily="18" charset="0"/>
                <a:cs typeface="Times New Roman" panose="02020603050405020304" pitchFamily="18" charset="0"/>
              </a:rPr>
              <a:t>Conducting source code review and suggesting secure coding practices</a:t>
            </a:r>
          </a:p>
          <a:p>
            <a:r>
              <a:rPr lang="en-US" sz="2400" dirty="0">
                <a:latin typeface="Times New Roman" panose="02020603050405020304" pitchFamily="18" charset="0"/>
                <a:cs typeface="Times New Roman" panose="02020603050405020304" pitchFamily="18" charset="0"/>
              </a:rPr>
              <a:t>A detailed VAPT report documenting vulnerabilities, impact, proof of concept, and mitigation strategies was prepared.</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22026174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p:cNvSpPr>
            <a:spLocks noGrp="1"/>
          </p:cNvSpPr>
          <p:nvPr>
            <p:ph type="title"/>
          </p:nvPr>
        </p:nvSpPr>
        <p:spPr>
          <a:xfrm>
            <a:off x="838200" y="393406"/>
            <a:ext cx="10515600" cy="596311"/>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Internship Road Map</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9" name="Slide Number Placeholder 3"/>
          <p:cNvSpPr>
            <a:spLocks noGrp="1"/>
          </p:cNvSpPr>
          <p:nvPr>
            <p:ph type="sldNum" sz="quarter" idx="12"/>
          </p:nvPr>
        </p:nvSpPr>
        <p:spPr>
          <a:xfrm>
            <a:off x="8610600" y="6356350"/>
            <a:ext cx="2743200" cy="365125"/>
          </a:xfrm>
        </p:spPr>
        <p:txBody>
          <a:bodyPr/>
          <a:lstStyle/>
          <a:p>
            <a:pPr>
              <a:defRPr/>
            </a:pPr>
            <a:fld id="{815EC703-C051-410C-8BA1-62752E291E83}" type="slidenum">
              <a:rPr lang="en-US" altLang="en-US" smtClean="0"/>
              <a:pPr>
                <a:defRPr/>
              </a:pPr>
              <a:t>17</a:t>
            </a:fld>
            <a:endParaRPr lang="en-US" altLang="en-US"/>
          </a:p>
        </p:txBody>
      </p:sp>
      <p:graphicFrame>
        <p:nvGraphicFramePr>
          <p:cNvPr id="40" name="Content Placeholder 7"/>
          <p:cNvGraphicFramePr>
            <a:graphicFrameLocks noGrp="1"/>
          </p:cNvGraphicFramePr>
          <p:nvPr>
            <p:ph idx="1"/>
            <p:extLst>
              <p:ext uri="{D42A27DB-BD31-4B8C-83A1-F6EECF244321}">
                <p14:modId xmlns:p14="http://schemas.microsoft.com/office/powerpoint/2010/main" val="4008521721"/>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Github Link</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
        <p:nvSpPr>
          <p:cNvPr id="3" name="Content Placeholder 2"/>
          <p:cNvSpPr>
            <a:spLocks noGrp="1"/>
          </p:cNvSpPr>
          <p:nvPr>
            <p:ph idx="1"/>
          </p:nvPr>
        </p:nvSpPr>
        <p:spPr>
          <a:xfrm>
            <a:off x="578283" y="2579012"/>
            <a:ext cx="10515600" cy="578967"/>
          </a:xfrm>
        </p:spPr>
        <p:txBody>
          <a:bodyPr>
            <a:normAutofit/>
          </a:bodyPr>
          <a:lstStyle/>
          <a:p>
            <a:pPr marL="0" indent="0" algn="ctr">
              <a:buNone/>
            </a:pPr>
            <a:r>
              <a:rPr lang="en-US" sz="3200" u="sng">
                <a:solidFill>
                  <a:srgbClr val="0070C0"/>
                </a:solidFill>
              </a:rPr>
              <a:t>https://github.com/Salini2/Internship</a:t>
            </a:r>
            <a:endParaRPr lang="en-US" sz="3200" dirty="0"/>
          </a:p>
        </p:txBody>
      </p:sp>
    </p:spTree>
    <p:extLst>
      <p:ext uri="{BB962C8B-B14F-4D97-AF65-F5344CB8AC3E}">
        <p14:creationId xmlns:p14="http://schemas.microsoft.com/office/powerpoint/2010/main" val="295621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smtClean="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smtClean="0">
                <a:solidFill>
                  <a:srgbClr val="FFFF00"/>
                </a:solidFill>
                <a:latin typeface="Times New Roman" panose="02020603050405020304" pitchFamily="18" charset="0"/>
                <a:cs typeface="Times New Roman" panose="02020603050405020304" pitchFamily="18" charset="0"/>
              </a:rPr>
              <a:t> </a:t>
            </a:r>
            <a:r>
              <a:rPr lang="en-US" sz="6600" dirty="0" smtClean="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19</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smtClean="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20</a:t>
            </a:fld>
            <a:endParaRPr lang="en-US" altLang="en-US"/>
          </a:p>
        </p:txBody>
      </p:sp>
    </p:spTree>
    <p:extLst>
      <p:ext uri="{BB962C8B-B14F-4D97-AF65-F5344CB8AC3E}">
        <p14:creationId xmlns:p14="http://schemas.microsoft.com/office/powerpoint/2010/main" val="696605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7046</TotalTime>
  <Words>1345</Words>
  <Application>Microsoft Office PowerPoint</Application>
  <PresentationFormat>Widescreen</PresentationFormat>
  <Paragraphs>194</Paragraphs>
  <Slides>20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Calibri Light</vt:lpstr>
      <vt:lpstr>Cambria</vt:lpstr>
      <vt:lpstr>Tahoma</vt:lpstr>
      <vt:lpstr>Times New Roman</vt:lpstr>
      <vt:lpstr>Verdana</vt:lpstr>
      <vt:lpstr>Wingdings</vt:lpstr>
      <vt:lpstr>Office Theme</vt:lpstr>
      <vt:lpstr>PowerPoint Presentation</vt:lpstr>
      <vt:lpstr>Content</vt:lpstr>
      <vt:lpstr>PowerPoint Presentation</vt:lpstr>
      <vt:lpstr>PowerPoint Presentation</vt:lpstr>
      <vt:lpstr>PowerPoint Presentation</vt:lpstr>
      <vt:lpstr>PowerPoint Presentation</vt:lpstr>
      <vt:lpstr>About team and Reporting Manager</vt:lpstr>
      <vt:lpstr>Challenges Faced in Internship</vt:lpstr>
      <vt:lpstr>Objectives of the work</vt:lpstr>
      <vt:lpstr>Literature Review</vt:lpstr>
      <vt:lpstr>Proposed Work</vt:lpstr>
      <vt:lpstr>Problem Statement</vt:lpstr>
      <vt:lpstr>System Requirements</vt:lpstr>
      <vt:lpstr>Advantages of Proposed Work</vt:lpstr>
      <vt:lpstr>System Design</vt:lpstr>
      <vt:lpstr>System Implementation</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USER</cp:lastModifiedBy>
  <cp:revision>727</cp:revision>
  <dcterms:created xsi:type="dcterms:W3CDTF">2022-10-14T07:18:17Z</dcterms:created>
  <dcterms:modified xsi:type="dcterms:W3CDTF">2026-04-23T15:52:45Z</dcterms:modified>
</cp:coreProperties>
</file>