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9" r:id="rId2"/>
    <p:sldId id="270" r:id="rId3"/>
    <p:sldId id="261" r:id="rId4"/>
    <p:sldId id="276" r:id="rId5"/>
    <p:sldId id="262" r:id="rId6"/>
    <p:sldId id="277" r:id="rId7"/>
    <p:sldId id="278" r:id="rId8"/>
    <p:sldId id="264" r:id="rId9"/>
    <p:sldId id="265" r:id="rId10"/>
    <p:sldId id="271" r:id="rId11"/>
    <p:sldId id="272" r:id="rId12"/>
    <p:sldId id="273" r:id="rId13"/>
    <p:sldId id="274" r:id="rId14"/>
    <p:sldId id="275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68" d="100"/>
          <a:sy n="68" d="100"/>
        </p:scale>
        <p:origin x="7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pPr algn="l"/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Gained hands-on experience exploiting real vulnerabilities.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custT="1"/>
      <dgm:spPr/>
      <dgm:t>
        <a:bodyPr/>
        <a:lstStyle/>
        <a:p>
          <a:pPr algn="l"/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Will be moved to Shadow Sprint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F98BDDE5-CABB-42D4-A974-36F679ED7B56}">
      <dgm:prSet custT="1"/>
      <dgm:spPr/>
      <dgm:t>
        <a:bodyPr/>
        <a:lstStyle/>
        <a:p>
          <a:pPr algn="l"/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Will be moved to Shadow Sprint</a:t>
          </a:r>
          <a:endParaRPr lang="en-US" sz="1600" dirty="0"/>
        </a:p>
      </dgm:t>
    </dgm:pt>
    <dgm:pt modelId="{C1B5F8C9-A046-400C-AC28-DDDBD3A612DE}" type="parTrans" cxnId="{DDE75F6E-5B9D-4C7E-8764-0D602CF80ADD}">
      <dgm:prSet/>
      <dgm:spPr/>
      <dgm:t>
        <a:bodyPr/>
        <a:lstStyle/>
        <a:p>
          <a:endParaRPr lang="en-US"/>
        </a:p>
      </dgm:t>
    </dgm:pt>
    <dgm:pt modelId="{043C7876-C191-468B-847A-1631613BBBA7}" type="sibTrans" cxnId="{DDE75F6E-5B9D-4C7E-8764-0D602CF80ADD}">
      <dgm:prSet/>
      <dgm:spPr/>
      <dgm:t>
        <a:bodyPr/>
        <a:lstStyle/>
        <a:p>
          <a:endParaRPr lang="en-US"/>
        </a:p>
      </dgm:t>
    </dgm:pt>
    <dgm:pt modelId="{13FD096A-AAFF-4585-97E6-5769A84A2251}">
      <dgm:prSet custT="1"/>
      <dgm:spPr/>
      <dgm:t>
        <a:bodyPr/>
        <a:lstStyle/>
        <a:p>
          <a:pPr algn="l"/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Will be moved to Shadow Sprint</a:t>
          </a:r>
          <a:endParaRPr lang="en-US" sz="1600" dirty="0"/>
        </a:p>
      </dgm:t>
    </dgm:pt>
    <dgm:pt modelId="{C1062465-E95B-434C-B7B1-173260A4DEEA}" type="parTrans" cxnId="{50C907FB-5CF9-4681-B519-0E2569CF619E}">
      <dgm:prSet/>
      <dgm:spPr/>
      <dgm:t>
        <a:bodyPr/>
        <a:lstStyle/>
        <a:p>
          <a:endParaRPr lang="en-US"/>
        </a:p>
      </dgm:t>
    </dgm:pt>
    <dgm:pt modelId="{67BC799D-8CE2-42D3-AEA9-772F838EA20A}" type="sibTrans" cxnId="{50C907FB-5CF9-4681-B519-0E2569CF619E}">
      <dgm:prSet/>
      <dgm:spPr/>
      <dgm:t>
        <a:bodyPr/>
        <a:lstStyle/>
        <a:p>
          <a:endParaRPr lang="en-US"/>
        </a:p>
      </dgm:t>
    </dgm:pt>
    <dgm:pt modelId="{0DB3B5D4-6342-4EE8-8AEE-F4D44BCD77DB}">
      <dgm:prSet/>
      <dgm:spPr/>
      <dgm:t>
        <a:bodyPr/>
        <a:lstStyle/>
        <a:p>
          <a:pPr algn="l"/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Learned to use professional security for practical testing.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3396B5D-153A-474B-8529-B0391F8E5995}" type="parTrans" cxnId="{431EE39F-3F6E-4CF9-9E64-14807B71C835}">
      <dgm:prSet/>
      <dgm:spPr/>
      <dgm:t>
        <a:bodyPr/>
        <a:lstStyle/>
        <a:p>
          <a:endParaRPr lang="en-US"/>
        </a:p>
      </dgm:t>
    </dgm:pt>
    <dgm:pt modelId="{24A8F198-AD47-417E-AF5F-94D5121A47B9}" type="sibTrans" cxnId="{431EE39F-3F6E-4CF9-9E64-14807B71C835}">
      <dgm:prSet/>
      <dgm:spPr/>
      <dgm:t>
        <a:bodyPr/>
        <a:lstStyle/>
        <a:p>
          <a:endParaRPr lang="en-US"/>
        </a:p>
      </dgm:t>
    </dgm:pt>
    <dgm:pt modelId="{1B18A884-8654-479C-B4CE-408F320D5E37}">
      <dgm:prSet/>
      <dgm:spPr/>
      <dgm:t>
        <a:bodyPr/>
        <a:lstStyle/>
        <a:p>
          <a:pPr algn="l"/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Developed skills in analyzing vulnerabilities and documenting.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A597BE-E316-419D-B89E-1E24F65EFC0B}" type="parTrans" cxnId="{E5507014-1AB2-48E4-A759-7696B6661BCE}">
      <dgm:prSet/>
      <dgm:spPr/>
      <dgm:t>
        <a:bodyPr/>
        <a:lstStyle/>
        <a:p>
          <a:endParaRPr lang="en-US"/>
        </a:p>
      </dgm:t>
    </dgm:pt>
    <dgm:pt modelId="{EC0B2738-48FD-46E4-8565-31B048882E75}" type="sibTrans" cxnId="{E5507014-1AB2-48E4-A759-7696B6661BCE}">
      <dgm:prSet/>
      <dgm:spPr/>
      <dgm:t>
        <a:bodyPr/>
        <a:lstStyle/>
        <a:p>
          <a:endParaRPr lang="en-US"/>
        </a:p>
      </dgm:t>
    </dgm:pt>
    <dgm:pt modelId="{46CA520A-2ED5-41F1-8F61-12D8A776317F}">
      <dgm:prSet custT="1"/>
      <dgm:spPr/>
      <dgm:t>
        <a:bodyPr/>
        <a:lstStyle/>
        <a:p>
          <a:pPr algn="l"/>
          <a:r>
            <a: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Basics of Cyber Security.  Introduction to different domains.</a:t>
          </a:r>
          <a:endParaRPr lang="en-US" sz="1400" dirty="0"/>
        </a:p>
      </dgm:t>
    </dgm:pt>
    <dgm:pt modelId="{977AF98B-AF52-458B-945B-8E24B138A004}" type="parTrans" cxnId="{D1762E4D-49A4-4ABD-989A-03678E4DB59D}">
      <dgm:prSet/>
      <dgm:spPr/>
      <dgm:t>
        <a:bodyPr/>
        <a:lstStyle/>
        <a:p>
          <a:endParaRPr lang="en-US"/>
        </a:p>
      </dgm:t>
    </dgm:pt>
    <dgm:pt modelId="{4EC80175-33B3-41FE-961A-2BED416B8250}" type="sibTrans" cxnId="{D1762E4D-49A4-4ABD-989A-03678E4DB59D}">
      <dgm:prSet/>
      <dgm:spPr/>
      <dgm:t>
        <a:bodyPr/>
        <a:lstStyle/>
        <a:p>
          <a:endParaRPr lang="en-US"/>
        </a:p>
      </dgm:t>
    </dgm:pt>
    <dgm:pt modelId="{7E8910BC-ECC2-4DF0-81C9-786F362F0F9D}">
      <dgm:prSet custT="1"/>
      <dgm:spPr/>
      <dgm:t>
        <a:bodyPr/>
        <a:lstStyle/>
        <a:p>
          <a:pPr algn="l"/>
          <a:r>
            <a: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Setting up the lab and having hands-on experience as a beginner. </a:t>
          </a:r>
          <a:endParaRPr lang="en-US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5082F9-B4FE-4009-A809-642E436791E1}" type="parTrans" cxnId="{7C0CB72D-8B9D-4618-91F9-26EE3B32C135}">
      <dgm:prSet/>
      <dgm:spPr/>
      <dgm:t>
        <a:bodyPr/>
        <a:lstStyle/>
        <a:p>
          <a:endParaRPr lang="en-US"/>
        </a:p>
      </dgm:t>
    </dgm:pt>
    <dgm:pt modelId="{B62AE831-92BD-48A4-8165-DA887B6A9E70}" type="sibTrans" cxnId="{7C0CB72D-8B9D-4618-91F9-26EE3B32C135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  <dgm:t>
        <a:bodyPr/>
        <a:lstStyle/>
        <a:p>
          <a:endParaRPr lang="en-US"/>
        </a:p>
      </dgm:t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  <dgm:t>
        <a:bodyPr/>
        <a:lstStyle/>
        <a:p>
          <a:endParaRPr lang="en-US"/>
        </a:p>
      </dgm:t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AFCF47-32CA-4C44-9E3C-782007B7112E}" type="pres">
      <dgm:prSet presAssocID="{A59EC69B-8F3F-425B-819F-E8C557946AEE}" presName="ChildAccent3" presStyleCnt="0"/>
      <dgm:spPr/>
      <dgm:t>
        <a:bodyPr/>
        <a:lstStyle/>
        <a:p>
          <a:endParaRPr lang="en-US"/>
        </a:p>
      </dgm:t>
    </dgm:pt>
    <dgm:pt modelId="{2532504F-5FE1-4C97-B485-F05E8885EACC}" type="pres">
      <dgm:prSet presAssocID="{A59EC69B-8F3F-425B-819F-E8C557946AEE}" presName="ChildAccent" presStyleLbl="alignImgPlace1" presStyleIdx="2" presStyleCnt="5"/>
      <dgm:spPr/>
      <dgm:t>
        <a:bodyPr/>
        <a:lstStyle/>
        <a:p>
          <a:endParaRPr lang="en-US"/>
        </a:p>
      </dgm:t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269CE6-C767-48CC-AAFD-A238D1FFDABA}" type="pres">
      <dgm:prSet presAssocID="{7B3055AA-BF7C-46D0-9A9E-60087B9F57B4}" presName="ChildAccent2" presStyleCnt="0"/>
      <dgm:spPr/>
      <dgm:t>
        <a:bodyPr/>
        <a:lstStyle/>
        <a:p>
          <a:endParaRPr lang="en-US"/>
        </a:p>
      </dgm:t>
    </dgm:pt>
    <dgm:pt modelId="{06F8D57B-EDF4-4CF4-8700-DC2CA3E3028E}" type="pres">
      <dgm:prSet presAssocID="{7B3055AA-BF7C-46D0-9A9E-60087B9F57B4}" presName="ChildAccent" presStyleLbl="alignImgPlace1" presStyleIdx="3" presStyleCnt="5"/>
      <dgm:spPr/>
      <dgm:t>
        <a:bodyPr/>
        <a:lstStyle/>
        <a:p>
          <a:endParaRPr lang="en-US"/>
        </a:p>
      </dgm:t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05DF14-0FF5-45E4-8B19-015814092DBD}" type="pres">
      <dgm:prSet presAssocID="{988D96B0-D16E-4763-B393-84178CF4FF50}" presName="ChildAccent1" presStyleCnt="0"/>
      <dgm:spPr/>
      <dgm:t>
        <a:bodyPr/>
        <a:lstStyle/>
        <a:p>
          <a:endParaRPr lang="en-US"/>
        </a:p>
      </dgm:t>
    </dgm:pt>
    <dgm:pt modelId="{A134CDD1-D85F-44EF-8BEE-9F99A855C1E6}" type="pres">
      <dgm:prSet presAssocID="{988D96B0-D16E-4763-B393-84178CF4FF50}" presName="ChildAccent" presStyleLbl="alignImgPlace1" presStyleIdx="4" presStyleCnt="5"/>
      <dgm:spPr/>
      <dgm:t>
        <a:bodyPr/>
        <a:lstStyle/>
        <a:p>
          <a:endParaRPr lang="en-US"/>
        </a:p>
      </dgm:t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D95A5A6-6B37-4EFC-95CA-833FCFD644CB}" type="presOf" srcId="{F98BDDE5-CABB-42D4-A974-36F679ED7B56}" destId="{FC0F1314-3294-4A8C-8DCE-EB53E236164C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50306F2C-6A76-4C50-B5F2-B74AE8D71D62}" type="presOf" srcId="{13FD096A-AAFF-4585-97E6-5769A84A2251}" destId="{8CAE5A4D-0C7B-48A6-917B-0B8433D0574B}" srcOrd="0" destOrd="0" presId="urn:microsoft.com/office/officeart/2011/layout/InterconnectedBlockProcess"/>
    <dgm:cxn modelId="{9DB85AC1-A2B3-417A-966E-C77E9331AFA5}" type="presOf" srcId="{0DB3B5D4-6342-4EE8-8AEE-F4D44BCD77DB}" destId="{6BCCFBA6-7A43-4631-AD7F-AFB10E1E6CD7}" srcOrd="1" destOrd="1" presId="urn:microsoft.com/office/officeart/2011/layout/InterconnectedBlockProcess"/>
    <dgm:cxn modelId="{7C0CB72D-8B9D-4618-91F9-26EE3B32C135}" srcId="{988D96B0-D16E-4763-B393-84178CF4FF50}" destId="{7E8910BC-ECC2-4DF0-81C9-786F362F0F9D}" srcOrd="1" destOrd="0" parTransId="{E75082F9-B4FE-4009-A809-642E436791E1}" sibTransId="{B62AE831-92BD-48A4-8165-DA887B6A9E70}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9702626F-9312-41F5-B10E-8735E6FBC55A}" type="presOf" srcId="{13FD096A-AAFF-4585-97E6-5769A84A2251}" destId="{928B615F-0F8D-4140-A638-0FBB8F5BF1E9}" srcOrd="1" destOrd="0" presId="urn:microsoft.com/office/officeart/2011/layout/InterconnectedBlockProcess"/>
    <dgm:cxn modelId="{DDE75F6E-5B9D-4C7E-8764-0D602CF80ADD}" srcId="{5E92505A-51E0-4F78-B3C5-704ACF8710DE}" destId="{F98BDDE5-CABB-42D4-A974-36F679ED7B56}" srcOrd="0" destOrd="0" parTransId="{C1B5F8C9-A046-400C-AC28-DDDBD3A612DE}" sibTransId="{043C7876-C191-468B-847A-1631613BBBA7}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37086B1F-6F2D-4E04-BBA5-8A0C781FA084}" type="presOf" srcId="{46CA520A-2ED5-41F1-8F61-12D8A776317F}" destId="{A134CDD1-D85F-44EF-8BEE-9F99A855C1E6}" srcOrd="0" destOrd="0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73A73E47-2287-4E59-872B-9587AF031A93}" type="presOf" srcId="{F98BDDE5-CABB-42D4-A974-36F679ED7B56}" destId="{98225A61-A0EC-450A-BED8-EF2E47E8FD18}" srcOrd="1" destOrd="0" presId="urn:microsoft.com/office/officeart/2011/layout/InterconnectedBlockProcess"/>
    <dgm:cxn modelId="{E5507014-1AB2-48E4-A759-7696B6661BCE}" srcId="{7B3055AA-BF7C-46D0-9A9E-60087B9F57B4}" destId="{1B18A884-8654-479C-B4CE-408F320D5E37}" srcOrd="2" destOrd="0" parTransId="{76A597BE-E316-419D-B89E-1E24F65EFC0B}" sibTransId="{EC0B2738-48FD-46E4-8565-31B048882E75}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50C907FB-5CF9-4681-B519-0E2569CF619E}" srcId="{65C051F6-A849-4495-A964-CD4C650B9C06}" destId="{13FD096A-AAFF-4585-97E6-5769A84A2251}" srcOrd="0" destOrd="0" parTransId="{C1062465-E95B-434C-B7B1-173260A4DEEA}" sibTransId="{67BC799D-8CE2-42D3-AEA9-772F838EA20A}"/>
    <dgm:cxn modelId="{D0A59334-C8A7-4687-985A-A4E8F406EBD6}" type="presOf" srcId="{1B18A884-8654-479C-B4CE-408F320D5E37}" destId="{06F8D57B-EDF4-4CF4-8700-DC2CA3E3028E}" srcOrd="0" destOrd="2" presId="urn:microsoft.com/office/officeart/2011/layout/InterconnectedBlockProcess"/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D1762E4D-49A4-4ABD-989A-03678E4DB59D}" srcId="{988D96B0-D16E-4763-B393-84178CF4FF50}" destId="{46CA520A-2ED5-41F1-8F61-12D8A776317F}" srcOrd="0" destOrd="0" parTransId="{977AF98B-AF52-458B-945B-8E24B138A004}" sibTransId="{4EC80175-33B3-41FE-961A-2BED416B8250}"/>
    <dgm:cxn modelId="{7333804E-F130-451A-B06F-A6F76B6C0B34}" type="presOf" srcId="{1B18A884-8654-479C-B4CE-408F320D5E37}" destId="{6BCCFBA6-7A43-4631-AD7F-AFB10E1E6CD7}" srcOrd="1" destOrd="2" presId="urn:microsoft.com/office/officeart/2011/layout/InterconnectedBlockProcess"/>
    <dgm:cxn modelId="{6F075B2D-F19B-4412-86DE-6464A1FF1F01}" type="presOf" srcId="{7E8910BC-ECC2-4DF0-81C9-786F362F0F9D}" destId="{1C91D7E3-8940-4A33-9182-677DD5415901}" srcOrd="1" destOrd="1" presId="urn:microsoft.com/office/officeart/2011/layout/InterconnectedBlockProcess"/>
    <dgm:cxn modelId="{431EE39F-3F6E-4CF9-9E64-14807B71C835}" srcId="{7B3055AA-BF7C-46D0-9A9E-60087B9F57B4}" destId="{0DB3B5D4-6342-4EE8-8AEE-F4D44BCD77DB}" srcOrd="1" destOrd="0" parTransId="{E3396B5D-153A-474B-8529-B0391F8E5995}" sibTransId="{24A8F198-AD47-417E-AF5F-94D5121A47B9}"/>
    <dgm:cxn modelId="{8A62A46C-3A9C-4B54-A9DD-C9C25E2882F8}" type="presOf" srcId="{7E8910BC-ECC2-4DF0-81C9-786F362F0F9D}" destId="{A134CDD1-D85F-44EF-8BEE-9F99A855C1E6}" srcOrd="0" destOrd="1" presId="urn:microsoft.com/office/officeart/2011/layout/InterconnectedBlockProcess"/>
    <dgm:cxn modelId="{379D72E2-F23A-4E7C-B4A2-C81AFCA8EDE4}" type="presOf" srcId="{0DB3B5D4-6342-4EE8-8AEE-F4D44BCD77DB}" destId="{06F8D57B-EDF4-4CF4-8700-DC2CA3E3028E}" srcOrd="0" destOrd="1" presId="urn:microsoft.com/office/officeart/2011/layout/InterconnectedBlockProcess"/>
    <dgm:cxn modelId="{73EF75CF-01BD-4DDE-82FC-B50589A9D6FD}" type="presOf" srcId="{46CA520A-2ED5-41F1-8F61-12D8A776317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Will be moved to Shadow Sprint</a:t>
          </a:r>
          <a:endParaRPr lang="en-US" sz="1600" kern="1200" dirty="0"/>
        </a:p>
      </dsp:txBody>
      <dsp:txXfrm>
        <a:off x="7335949" y="811639"/>
        <a:ext cx="1116055" cy="3246556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Will be moved to Shadow Sprint</a:t>
          </a:r>
          <a:endParaRPr lang="en-US" sz="1600" kern="1200" dirty="0"/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Will be moved to Shadow Sprint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Gained hands-on experience exploiting real vulnerabilities.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Learned to use professional security for practical testing.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Developed skills in analyzing vulnerabilities and documenting.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Basics of Cyber Security.  Introduction to different domains.</a:t>
          </a:r>
          <a:endParaRPr lang="en-US" sz="1400" kern="1200" dirty="0"/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Setting up the lab and having hands-on experience as a beginner. 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23/04/2026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90;p13"/>
          <p:cNvSpPr txBox="1"/>
          <p:nvPr/>
        </p:nvSpPr>
        <p:spPr>
          <a:xfrm>
            <a:off x="6525369" y="2128572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Guide - Ms. </a:t>
            </a:r>
            <a:r>
              <a:rPr lang="en-GB" sz="1700" b="1" i="0" u="none" strike="noStrike" cap="none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Shaik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Salma Begum -  Assistant Professor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of 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14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i="0" u="none" strike="noStrike" cap="none" dirty="0" err="1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i="0" u="none" strike="noStrike" cap="none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(CSE)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Mohammed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 Riya </a:t>
            </a:r>
            <a:r>
              <a:rPr lang="en-US" sz="2000" b="1" dirty="0" err="1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Sanjesh</a:t>
            </a:r>
            <a:endParaRPr lang="en-US" sz="2000" b="1" i="0" u="none" strike="noStrike" cap="none" dirty="0" smtClean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 Md Ziaur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Review-2 Presentation 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KPMG – Global Services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480702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Salini A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20221CSE0640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8CSE04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12" name="Rectangle 11"/>
          <p:cNvSpPr/>
          <p:nvPr/>
        </p:nvSpPr>
        <p:spPr>
          <a:xfrm>
            <a:off x="480767" y="1772239"/>
            <a:ext cx="11208470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KPMG Global Services (KGS) is the global delivery and support organization of KPMG, one of the Big Four professional services networks.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KGS supports KPMG member firms worldwide by providing delivery excellence 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(Assurance)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Advisory / Consulting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and Digital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 quality delivery, standardization, innovation, automation, and analytics.</a:t>
            </a:r>
          </a:p>
        </p:txBody>
      </p:sp>
      <p:sp>
        <p:nvSpPr>
          <p:cNvPr id="2" name="Rectangle 1"/>
          <p:cNvSpPr/>
          <p:nvPr/>
        </p:nvSpPr>
        <p:spPr>
          <a:xfrm>
            <a:off x="4925863" y="601140"/>
            <a:ext cx="16209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KPMG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3335" y="363067"/>
            <a:ext cx="10583159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Services / Offerings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support and assurance delivery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 research, compliance support and reporting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&amp; governance support (GRC)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Consulting delivery support (transformation, strategy, operations)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enablement (data analytics, cloud support, automation, cybersecurity)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 / Solutions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KGS supports KPMG firms through: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&amp; reporting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transformation enablement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tools &amp; AI-driven workflows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and enterprise platforms support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and risk solutions support</a:t>
            </a:r>
          </a:p>
        </p:txBody>
      </p:sp>
    </p:spTree>
    <p:extLst>
      <p:ext uri="{BB962C8B-B14F-4D97-AF65-F5344CB8AC3E}">
        <p14:creationId xmlns:p14="http://schemas.microsoft.com/office/powerpoint/2010/main" val="399805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12189" y="411169"/>
            <a:ext cx="10931951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Clients 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KGS supports KPMG teams who work with large clients across sectors. Some real well-known KPMG clients include: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Deutsche Bank (Financial Services)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Wells Fargo (Banking)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Citigroup (Banking)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General Electric (GE) (Industrial &amp; Energy) </a:t>
            </a:r>
          </a:p>
          <a:p>
            <a:pPr marL="342900" indent="-342900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Accenture (Technology &amp; Services)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KPMG has a presence in ~143 countries and territories across the world, with offices in North America, Europe, Asia-Pacific, Middle East, Africa and Latin America.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 err="1">
                <a:solidFill>
                  <a:srgbClr val="0070C0"/>
                </a:solidFill>
              </a:rPr>
              <a:t>Klynveld</a:t>
            </a:r>
            <a:r>
              <a:rPr lang="en-IN" sz="3200" b="1" dirty="0">
                <a:solidFill>
                  <a:srgbClr val="0070C0"/>
                </a:solidFill>
              </a:rPr>
              <a:t> Peat Marwick </a:t>
            </a:r>
            <a:r>
              <a:rPr lang="en-IN" sz="3200" b="1" dirty="0" err="1">
                <a:solidFill>
                  <a:srgbClr val="0070C0"/>
                </a:solidFill>
              </a:rPr>
              <a:t>Goerdeler</a:t>
            </a:r>
            <a:r>
              <a:rPr lang="en-IN" sz="3200" b="1" dirty="0">
                <a:solidFill>
                  <a:srgbClr val="0070C0"/>
                </a:solidFill>
              </a:rPr>
              <a:t> - KPMG</a:t>
            </a:r>
            <a:endParaRPr lang="en-US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6244" y="156645"/>
            <a:ext cx="11965756" cy="6678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Assigned Domain and Technology</a:t>
            </a:r>
          </a:p>
          <a:p>
            <a:endParaRPr lang="en-IN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Domain:</a:t>
            </a: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Cybersecurity – Cyber Managed Services </a:t>
            </a:r>
          </a:p>
          <a:p>
            <a:endParaRPr lang="en-IN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Technologies &amp; Areas Worked On</a:t>
            </a:r>
            <a:r>
              <a:rPr lang="en-IN" sz="2400" b="1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</a:t>
            </a:r>
            <a:endParaRPr lang="en-IN" sz="2400" dirty="0" smtClean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en-IN" sz="20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Web </a:t>
            </a: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Application Security Testing (OWASP Top </a:t>
            </a:r>
            <a:r>
              <a:rPr lang="en-IN" sz="20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10)</a:t>
            </a:r>
          </a:p>
          <a:p>
            <a:pPr marL="342900" indent="-342900">
              <a:buFontTx/>
              <a:buChar char="-"/>
            </a:pPr>
            <a:r>
              <a:rPr lang="en-IN" sz="20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Buffer </a:t>
            </a: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Overflow Exploitation (Memory corruption </a:t>
            </a:r>
            <a:r>
              <a:rPr lang="en-IN" sz="20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attacks)</a:t>
            </a:r>
          </a:p>
          <a:p>
            <a:pPr marL="342900" indent="-342900">
              <a:buFontTx/>
              <a:buChar char="-"/>
            </a:pPr>
            <a:r>
              <a:rPr lang="en-IN" sz="20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SQL </a:t>
            </a: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Injection attacks in authentication </a:t>
            </a:r>
            <a:r>
              <a:rPr lang="en-IN" sz="20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mechanisms</a:t>
            </a:r>
          </a:p>
          <a:p>
            <a:pPr marL="342900" indent="-342900">
              <a:buFontTx/>
              <a:buChar char="-"/>
            </a:pPr>
            <a:r>
              <a:rPr lang="en-IN" sz="20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Burp </a:t>
            </a: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Suite for request interception and </a:t>
            </a:r>
            <a:r>
              <a:rPr lang="en-IN" sz="20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manipulation</a:t>
            </a:r>
          </a:p>
          <a:p>
            <a:pPr marL="342900" indent="-342900">
              <a:buFontTx/>
              <a:buChar char="-"/>
            </a:pPr>
            <a:r>
              <a:rPr lang="en-IN" sz="20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Kali </a:t>
            </a: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Linux security testing </a:t>
            </a:r>
            <a:r>
              <a:rPr lang="en-IN" sz="20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environment</a:t>
            </a:r>
          </a:p>
          <a:p>
            <a:pPr marL="342900" indent="-342900">
              <a:buFontTx/>
              <a:buChar char="-"/>
            </a:pPr>
            <a:r>
              <a:rPr lang="en-IN" sz="20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Linux </a:t>
            </a: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Privilege Escalation (SUID </a:t>
            </a:r>
            <a:r>
              <a:rPr lang="en-IN" sz="20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exploitation)</a:t>
            </a:r>
          </a:p>
          <a:p>
            <a:pPr marL="342900" indent="-342900">
              <a:buFontTx/>
              <a:buChar char="-"/>
            </a:pPr>
            <a:r>
              <a:rPr lang="en-IN" sz="20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Source </a:t>
            </a: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Code Security </a:t>
            </a:r>
            <a:r>
              <a:rPr lang="en-IN" sz="20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Review</a:t>
            </a:r>
          </a:p>
          <a:p>
            <a:pPr marL="342900" indent="-342900">
              <a:buFontTx/>
              <a:buChar char="-"/>
            </a:pPr>
            <a:r>
              <a:rPr lang="en-IN" sz="20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Automated </a:t>
            </a: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attack testing using Intruder (Sniper &amp; Cluster attacks</a:t>
            </a:r>
            <a:r>
              <a:rPr lang="en-IN" sz="20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en-IN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IN" sz="2400" b="1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Importance:</a:t>
            </a:r>
            <a:r>
              <a:rPr lang="en-IN" sz="24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This </a:t>
            </a:r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domain is critical for identifying weaknesses before attackers exploit them and for strengthening application security.</a:t>
            </a:r>
          </a:p>
          <a:p>
            <a:endParaRPr lang="en-IN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17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36775" y="1693215"/>
            <a:ext cx="1093195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Cyber Managed Services team is divided into different domains – IAM,MAST,TPRM,SOC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part of the Penetration Testing (MAST)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team.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Within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pentesting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team, interns are assigned into smaller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groups/teams.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works collaboratively with distributed tasks based on: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Attacks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Vulnerability testing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Exploitation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Reporting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documentation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36775" y="614254"/>
            <a:ext cx="75414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Team and Reporting Manager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969208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19648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64292"/>
            <a:ext cx="9951057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real-world attack methodologies beyond theoretical knowledge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to use professional tools like </a:t>
            </a: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Burp Suite Intruder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effectively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debugging buffer overflow crashes and identifying correct offsets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Documenting vulnerabilities in professional report format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Managing multiple tools (Kali, Burp, debugger) simultaneously</a:t>
            </a:r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10000"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real-world style web application penetration testing.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security misconfigurations and vulnerabilities.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Exploit vulnerabilities such as: SQL Injection, Buffer Overflow, Information Disclosure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Windows and Linux privilege escalation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Prepare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professional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penetration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report with findings, severity, and remediation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943" y="1410610"/>
            <a:ext cx="11058427" cy="405819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OWASP Top 10 (2021) web vulnerability categories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 of memory corruption and buffer overflow attacks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on SQL Injection exploitation techniques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standards for penetration testing (PTES methodology)</a:t>
            </a: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Linux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privilege escalation via SUID binaries</a:t>
            </a:r>
          </a:p>
          <a:p>
            <a:pPr marL="0" indent="0">
              <a:buNone/>
            </a:pP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helped in mapping vulnerabilities to industry-recognized security categories.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567" y="137539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047" y="1041621"/>
            <a:ext cx="10957874" cy="4886495"/>
          </a:xfrm>
        </p:spPr>
        <p:txBody>
          <a:bodyPr>
            <a:no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work is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security assessment framework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includes: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gathering and reconnaissance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testing 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Exploitation of:</a:t>
            </a:r>
          </a:p>
          <a:p>
            <a:pPr lvl="1"/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 Overflow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configurations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Intruder-based automated attack simulations (Sniper &amp; Cluster)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 review for insecure coding practices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privilege escalation testing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vulnerability documentation with risk &amp; fix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542" y="280283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7371" y="1420037"/>
            <a:ext cx="10515600" cy="4058194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web applications often suffer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misconfigurations, insecure coding, and weak authentication mechanisms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lead to:</a:t>
            </a:r>
          </a:p>
          <a:p>
            <a:pPr>
              <a:buFontTx/>
              <a:buChar char="-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</a:t>
            </a:r>
          </a:p>
          <a:p>
            <a:pPr>
              <a:buFontTx/>
              <a:buChar char="-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Session hijacking</a:t>
            </a:r>
          </a:p>
          <a:p>
            <a:pPr>
              <a:buFontTx/>
              <a:buChar char="-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disclosure</a:t>
            </a:r>
          </a:p>
          <a:p>
            <a:pPr>
              <a:buFontTx/>
              <a:buChar char="-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Privilege escalation</a:t>
            </a:r>
          </a:p>
          <a:p>
            <a:pPr>
              <a:buFontTx/>
              <a:buChar char="-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compromise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is identifying these weaknesses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malicious attackers exploit them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237" y="327418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2329"/>
            <a:ext cx="10515600" cy="4058194"/>
          </a:xfrm>
        </p:spPr>
        <p:txBody>
          <a:bodyPr>
            <a:no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Laptop/PC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virtualization support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Host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OS: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</a:p>
          <a:p>
            <a:pPr>
              <a:buFontTx/>
              <a:buChar char="-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Kali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VM</a:t>
            </a:r>
          </a:p>
          <a:p>
            <a:pPr>
              <a:buFontTx/>
              <a:buChar char="-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Burp Suite</a:t>
            </a:r>
          </a:p>
          <a:p>
            <a:pPr>
              <a:buFontTx/>
              <a:buChar char="-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</a:t>
            </a:r>
          </a:p>
          <a:p>
            <a:pPr>
              <a:buFontTx/>
              <a:buChar char="-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Target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Networking basics, Linux commands, Basics of Cybersecurity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9091" y="501650"/>
            <a:ext cx="10515600" cy="819241"/>
          </a:xfrm>
        </p:spPr>
        <p:txBody>
          <a:bodyPr>
            <a:normAutofit fontScale="90000"/>
          </a:bodyPr>
          <a:lstStyle/>
          <a:p>
            <a:pPr marL="152400" algn="just">
              <a:lnSpc>
                <a:spcPct val="150000"/>
              </a:lnSpc>
              <a:spcBef>
                <a:spcPts val="0"/>
              </a:spcBef>
            </a:pP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</a:t>
            </a:r>
            <a:r>
              <a:rPr lang="en-IN" sz="36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en-I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31491" y="6492875"/>
            <a:ext cx="2743200" cy="36512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fld id="{815EC703-C051-410C-8BA1-62752E291E83}" type="slidenum">
              <a:rPr lang="en-US" altLang="en-US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lnSpc>
                  <a:spcPct val="150000"/>
                </a:lnSpc>
                <a:defRPr/>
              </a:pPr>
              <a:t>14</a:t>
            </a:fld>
            <a:endParaRPr lang="en-US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66481" y="1624654"/>
            <a:ext cx="7438534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Detects security weaknesses before attackers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application hardening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hands-on cybersecurity experience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Aligns with industry penetration testing practices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Enhances secure coding awareness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risk of data breaches</a:t>
            </a:r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93406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0817952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969" y="685636"/>
            <a:ext cx="10515600" cy="596311"/>
          </a:xfrm>
        </p:spPr>
        <p:txBody>
          <a:bodyPr/>
          <a:lstStyle/>
          <a:p>
            <a:pPr algn="ctr"/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1677" y="2465890"/>
            <a:ext cx="4521618" cy="56954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u="sng">
                <a:solidFill>
                  <a:srgbClr val="0070C0"/>
                </a:solidFill>
              </a:rPr>
              <a:t>https://github.com/Salini2/Internship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17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 smtClean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7061</TotalTime>
  <Words>924</Words>
  <Application>Microsoft Office PowerPoint</Application>
  <PresentationFormat>Widescreen</PresentationFormat>
  <Paragraphs>180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Calibri Light</vt:lpstr>
      <vt:lpstr>Cambria</vt:lpstr>
      <vt:lpstr>Tahoma</vt:lpstr>
      <vt:lpstr>Times New Roman</vt:lpstr>
      <vt:lpstr>Verdana</vt:lpstr>
      <vt:lpstr>Wingdings</vt:lpstr>
      <vt:lpstr>Office Theme</vt:lpstr>
      <vt:lpstr>PowerPoint Presentation</vt:lpstr>
      <vt:lpstr>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Challenges Faced in Internship</vt:lpstr>
      <vt:lpstr>Objectives of the work</vt:lpstr>
      <vt:lpstr>Literature Review</vt:lpstr>
      <vt:lpstr>Proposed Work</vt:lpstr>
      <vt:lpstr>Problem Statement</vt:lpstr>
      <vt:lpstr>System Requirements</vt:lpstr>
      <vt:lpstr>Advantages of Proposed 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USER</cp:lastModifiedBy>
  <cp:revision>726</cp:revision>
  <dcterms:created xsi:type="dcterms:W3CDTF">2022-10-14T07:18:17Z</dcterms:created>
  <dcterms:modified xsi:type="dcterms:W3CDTF">2026-04-23T15:52:32Z</dcterms:modified>
</cp:coreProperties>
</file>